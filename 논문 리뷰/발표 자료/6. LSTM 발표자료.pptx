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60" r:id="rId4"/>
  </p:sldMasterIdLst>
  <p:notesMasterIdLst>
    <p:notesMasterId r:id="rId45"/>
  </p:notesMasterIdLst>
  <p:handoutMasterIdLst>
    <p:handoutMasterId r:id="rId46"/>
  </p:handoutMasterIdLst>
  <p:sldIdLst>
    <p:sldId id="385" r:id="rId5"/>
    <p:sldId id="394" r:id="rId6"/>
    <p:sldId id="399" r:id="rId7"/>
    <p:sldId id="395" r:id="rId8"/>
    <p:sldId id="396" r:id="rId9"/>
    <p:sldId id="397" r:id="rId10"/>
    <p:sldId id="401" r:id="rId11"/>
    <p:sldId id="400" r:id="rId12"/>
    <p:sldId id="402" r:id="rId13"/>
    <p:sldId id="445" r:id="rId14"/>
    <p:sldId id="447" r:id="rId15"/>
    <p:sldId id="448" r:id="rId16"/>
    <p:sldId id="446" r:id="rId17"/>
    <p:sldId id="449" r:id="rId18"/>
    <p:sldId id="450" r:id="rId19"/>
    <p:sldId id="451" r:id="rId20"/>
    <p:sldId id="452" r:id="rId21"/>
    <p:sldId id="453" r:id="rId22"/>
    <p:sldId id="454" r:id="rId23"/>
    <p:sldId id="403" r:id="rId24"/>
    <p:sldId id="455" r:id="rId25"/>
    <p:sldId id="456" r:id="rId26"/>
    <p:sldId id="457" r:id="rId27"/>
    <p:sldId id="458" r:id="rId28"/>
    <p:sldId id="459" r:id="rId29"/>
    <p:sldId id="460" r:id="rId30"/>
    <p:sldId id="461" r:id="rId31"/>
    <p:sldId id="418" r:id="rId32"/>
    <p:sldId id="463" r:id="rId33"/>
    <p:sldId id="464" r:id="rId34"/>
    <p:sldId id="462" r:id="rId35"/>
    <p:sldId id="465" r:id="rId36"/>
    <p:sldId id="467" r:id="rId37"/>
    <p:sldId id="466" r:id="rId38"/>
    <p:sldId id="468" r:id="rId39"/>
    <p:sldId id="469" r:id="rId40"/>
    <p:sldId id="404" r:id="rId41"/>
    <p:sldId id="470" r:id="rId42"/>
    <p:sldId id="471" r:id="rId43"/>
    <p:sldId id="47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3" pos="480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0D2D"/>
    <a:srgbClr val="B7472A"/>
    <a:srgbClr val="F5F5F5"/>
    <a:srgbClr val="D24726"/>
    <a:srgbClr val="9FCDB3"/>
    <a:srgbClr val="217346"/>
    <a:srgbClr val="000000"/>
    <a:srgbClr val="D9D9D9"/>
    <a:srgbClr val="F3F2F1"/>
    <a:srgbClr val="FF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70" autoAdjust="0"/>
    <p:restoredTop sz="91709" autoAdjust="0"/>
  </p:normalViewPr>
  <p:slideViewPr>
    <p:cSldViewPr snapToGrid="0">
      <p:cViewPr varScale="1">
        <p:scale>
          <a:sx n="90" d="100"/>
          <a:sy n="90" d="100"/>
        </p:scale>
        <p:origin x="90" y="258"/>
      </p:cViewPr>
      <p:guideLst>
        <p:guide orient="horz" pos="2880"/>
        <p:guide pos="480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>
        <p:scale>
          <a:sx n="1" d="2"/>
          <a:sy n="1" d="2"/>
        </p:scale>
        <p:origin x="3403" y="28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commentAuthors" Target="commentAuthors.xml"/><Relationship Id="rId50" Type="http://schemas.openxmlformats.org/officeDocument/2006/relationships/theme" Target="theme/theme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microsoft.com/office/2018/10/relationships/authors" Target="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presProps" Target="presProps.xml"/><Relationship Id="rId8" Type="http://schemas.openxmlformats.org/officeDocument/2006/relationships/slide" Target="slides/slide4.xml"/><Relationship Id="rId51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680FBE-A8DF-4758-9AC4-3A9E1039168F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C679768-A2FC-4D08-91F6-8DCE6C566B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2/27/2025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82617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논문 순서대로 진행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34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Introduction</a:t>
            </a:r>
            <a:r>
              <a:rPr lang="ko-KR" altLang="en-US" dirty="0"/>
              <a:t>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Power system</a:t>
            </a:r>
            <a:r>
              <a:rPr lang="ko-KR" altLang="en-US" dirty="0"/>
              <a:t>의 운용을 가능하게 하려면 주거 수준의 </a:t>
            </a:r>
            <a:r>
              <a:rPr lang="en-US" altLang="ko-KR" dirty="0"/>
              <a:t>short-term electric load forecasting</a:t>
            </a:r>
            <a:r>
              <a:rPr lang="ko-KR" altLang="en-US" dirty="0"/>
              <a:t>이 필요합니다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81610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논문 조사 단계입니다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여러 가정집 데이터를 사용한 것이 아닌 단일 데이터만을 사용한 연구가 대부분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7058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논문의 </a:t>
            </a:r>
            <a:r>
              <a:rPr lang="en-US" altLang="ko-KR" dirty="0"/>
              <a:t>EDA</a:t>
            </a:r>
            <a:r>
              <a:rPr lang="ko-KR" altLang="en-US" dirty="0"/>
              <a:t>와 문제 인식 단계입니다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49987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이는 기존 연구되었던 변전소 수준에서의 예측입니다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66371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Profile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그래프에서 선 하나를 의미함</a:t>
            </a:r>
            <a:endParaRPr lang="en-US" altLang="ko-KR" dirty="0"/>
          </a:p>
          <a:p>
            <a:r>
              <a:rPr lang="ko-KR" altLang="en-US" dirty="0"/>
              <a:t>빨간색과 보라색이 주요 클러스터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84973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74056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논문에서는 </a:t>
            </a:r>
            <a:r>
              <a:rPr lang="en-US" altLang="ko-KR" dirty="0"/>
              <a:t>LSTM</a:t>
            </a:r>
            <a:r>
              <a:rPr lang="ko-KR" altLang="en-US" dirty="0"/>
              <a:t>을 활용하여 진행합니다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전력 소비 패턴을 학습하여 거주민의 상태 추론 및 기억하고 미래 전력 소비량을 예측할 것을 기대합니다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7809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논문의 </a:t>
            </a:r>
            <a:r>
              <a:rPr lang="en-US" altLang="ko-KR" dirty="0"/>
              <a:t>LSTM</a:t>
            </a:r>
            <a:r>
              <a:rPr lang="ko-KR" altLang="en-US" dirty="0"/>
              <a:t>기반의 예측 프레임워크 부분입니다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시계열 문제에서 </a:t>
            </a:r>
            <a:r>
              <a:rPr lang="en-US" altLang="ko-KR" dirty="0"/>
              <a:t>~ =&gt; </a:t>
            </a:r>
            <a:r>
              <a:rPr lang="ko-KR" altLang="en-US" dirty="0"/>
              <a:t>그림 보며 설명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역전파의 문제점인 기울기 소실과 기울기 폭발 문제가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장기 의존성 문제가 있으므로 학습이 어렵습니다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1855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메모리 셀 게이트는 중간 </a:t>
            </a:r>
            <a:r>
              <a:rPr lang="en-US" altLang="ko-KR" dirty="0"/>
              <a:t>output,</a:t>
            </a:r>
            <a:r>
              <a:rPr lang="ko-KR" altLang="en-US" dirty="0"/>
              <a:t> 현재 </a:t>
            </a:r>
            <a:r>
              <a:rPr lang="en-US" altLang="ko-KR" dirty="0"/>
              <a:t>input</a:t>
            </a:r>
            <a:r>
              <a:rPr lang="ko-KR" altLang="en-US" dirty="0"/>
              <a:t>과 상호작용하여 내부상태 벡터의 요소를 업데이트</a:t>
            </a:r>
            <a:r>
              <a:rPr lang="en-US" altLang="ko-KR" dirty="0"/>
              <a:t>, </a:t>
            </a:r>
            <a:r>
              <a:rPr lang="ko-KR" altLang="en-US" dirty="0"/>
              <a:t>유지 혹은 삭제할지 결정합니다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898881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236091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메모리 셀 게이트 수식을 보면</a:t>
            </a:r>
            <a:r>
              <a:rPr lang="en-US" altLang="ko-KR" dirty="0"/>
              <a:t>, </a:t>
            </a:r>
            <a:r>
              <a:rPr lang="ko-KR" altLang="en-US" dirty="0" err="1"/>
              <a:t>입력게이트와</a:t>
            </a:r>
            <a:r>
              <a:rPr lang="ko-KR" altLang="en-US" dirty="0"/>
              <a:t> </a:t>
            </a:r>
            <a:r>
              <a:rPr lang="ko-KR" altLang="en-US" dirty="0" err="1"/>
              <a:t>입력노드의</a:t>
            </a:r>
            <a:r>
              <a:rPr lang="ko-KR" altLang="en-US" dirty="0"/>
              <a:t> 요소 곱을 통해 기존 정보를 얼마나 반영할지 결정합니다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해당 값이 </a:t>
            </a:r>
            <a:r>
              <a:rPr lang="en-US" altLang="ko-KR" dirty="0"/>
              <a:t>1</a:t>
            </a:r>
            <a:r>
              <a:rPr lang="ko-KR" altLang="en-US" dirty="0"/>
              <a:t>에 가까울수록 새로운 정보 대부분이 메모리 셀 게이트에 입력되어 새로운 패턴을 학습하고</a:t>
            </a:r>
            <a:r>
              <a:rPr lang="en-US" altLang="ko-KR" dirty="0"/>
              <a:t>, 0</a:t>
            </a:r>
            <a:r>
              <a:rPr lang="ko-KR" altLang="en-US" dirty="0"/>
              <a:t>에 가까울수록 새로운 정보는 대부분 삭제됩니다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또</a:t>
            </a:r>
            <a:r>
              <a:rPr lang="en-US" altLang="ko-KR" dirty="0"/>
              <a:t>, forget</a:t>
            </a:r>
            <a:r>
              <a:rPr lang="ko-KR" altLang="en-US" dirty="0"/>
              <a:t>게이트와 메모리 셀 게이트의 곱이 나타나 있는데</a:t>
            </a:r>
            <a:r>
              <a:rPr lang="en-US" altLang="ko-KR" dirty="0"/>
              <a:t>, </a:t>
            </a:r>
            <a:r>
              <a:rPr lang="ko-KR" altLang="en-US" dirty="0"/>
              <a:t>이는 기존 메모리 셀 게이트의 정보를 얼마나 유지할 지 결정합니다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마지막으로 </a:t>
            </a:r>
            <a:r>
              <a:rPr lang="en-US" altLang="ko-KR" dirty="0"/>
              <a:t>output gate</a:t>
            </a:r>
            <a:r>
              <a:rPr lang="ko-KR" altLang="en-US" dirty="0"/>
              <a:t>에서는 다음 단계의 </a:t>
            </a:r>
            <a:r>
              <a:rPr lang="en-US" altLang="ko-KR" dirty="0"/>
              <a:t>layer</a:t>
            </a:r>
            <a:r>
              <a:rPr lang="ko-KR" altLang="en-US" dirty="0"/>
              <a:t>에 보낼 정보를 결정합니다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Forget gate -&gt; </a:t>
            </a:r>
            <a:r>
              <a:rPr lang="ko-KR" altLang="en-US" dirty="0"/>
              <a:t>기존 </a:t>
            </a:r>
            <a:r>
              <a:rPr lang="en-US" altLang="ko-KR" dirty="0"/>
              <a:t>memory cell state,</a:t>
            </a:r>
            <a:r>
              <a:rPr lang="ko-KR" altLang="en-US" dirty="0"/>
              <a:t> 즉 과거 정보를 얼마나 유지할 지 결정</a:t>
            </a:r>
            <a:endParaRPr lang="en-US" altLang="ko-KR" dirty="0"/>
          </a:p>
          <a:p>
            <a:r>
              <a:rPr lang="en-US" altLang="ko-KR" dirty="0"/>
              <a:t>Input gate -&gt; </a:t>
            </a:r>
            <a:r>
              <a:rPr lang="ko-KR" altLang="en-US" dirty="0"/>
              <a:t>새로운 정보를 얼마나 반영할지 결정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46888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AF7604-05B7-6001-49A5-086D47DC2A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12E5B83-5634-201E-37F9-7FCEC1B6594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9314A5E-8EE0-C4A9-CF2E-EC1B7442C05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 그림을 보면 알 수 있듯이 현재 </a:t>
            </a:r>
            <a:r>
              <a:rPr lang="ko-KR" altLang="en-US" dirty="0" err="1"/>
              <a:t>스탭의</a:t>
            </a:r>
            <a:r>
              <a:rPr lang="ko-KR" altLang="en-US" dirty="0"/>
              <a:t> 정보는 저장되고 유지되어 미래 </a:t>
            </a:r>
            <a:r>
              <a:rPr lang="ko-KR" altLang="en-US" dirty="0" err="1"/>
              <a:t>스탭의</a:t>
            </a:r>
            <a:r>
              <a:rPr lang="ko-KR" altLang="en-US" dirty="0"/>
              <a:t> </a:t>
            </a:r>
            <a:r>
              <a:rPr lang="en-US" altLang="ko-KR" dirty="0"/>
              <a:t>LSTM output</a:t>
            </a:r>
            <a:r>
              <a:rPr lang="ko-KR" altLang="en-US" dirty="0"/>
              <a:t>에 영향을 미칠 수 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6302A7F-1458-EEE0-FD7B-4800B2BCA50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307033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8B2C0-7F02-A622-74F7-979FFCE75C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FE4A891-D57D-E3D2-429F-CCDAF69607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C523A07-90EA-E7AD-C7EA-277BF40DA6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이번 연구에서는 아래와 같은 </a:t>
            </a:r>
            <a:r>
              <a:rPr lang="en-US" altLang="ko-KR" dirty="0"/>
              <a:t>input features</a:t>
            </a:r>
            <a:r>
              <a:rPr lang="ko-KR" altLang="en-US" dirty="0"/>
              <a:t>를 사용합니다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그림 보면서 설명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BC641D6-AED2-715F-4ED4-41A69F064A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08982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6349D-A059-F369-3EA2-9C2D0A5A5E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5ADBBAD3-AFB9-8B4C-4EC5-BB0BA90B0CA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330E2D65-4ECF-4A4E-8C12-CA1C05705A3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Min-max</a:t>
            </a:r>
            <a:r>
              <a:rPr lang="ko-KR" altLang="en-US" dirty="0"/>
              <a:t> 정규화 </a:t>
            </a:r>
            <a:r>
              <a:rPr lang="en-US" altLang="ko-KR" dirty="0"/>
              <a:t>: </a:t>
            </a:r>
            <a:r>
              <a:rPr lang="ko-KR" altLang="en-US" dirty="0"/>
              <a:t>최대값 </a:t>
            </a:r>
            <a:r>
              <a:rPr lang="en-US" altLang="ko-KR" dirty="0"/>
              <a:t>– </a:t>
            </a:r>
            <a:r>
              <a:rPr lang="ko-KR" altLang="en-US" dirty="0"/>
              <a:t>최솟값이 일치하도록 조정하는 작업</a:t>
            </a:r>
            <a:endParaRPr lang="en-US" altLang="ko-KR" dirty="0"/>
          </a:p>
          <a:p>
            <a:r>
              <a:rPr lang="en-US" altLang="ko-KR" dirty="0"/>
              <a:t>One-hot encoding : </a:t>
            </a:r>
            <a:r>
              <a:rPr lang="ko-KR" altLang="en-US" dirty="0"/>
              <a:t>원래 요소를 카테고리 </a:t>
            </a:r>
            <a:r>
              <a:rPr lang="en-US" altLang="ko-KR" dirty="0"/>
              <a:t>M</a:t>
            </a:r>
            <a:r>
              <a:rPr lang="ko-KR" altLang="en-US" dirty="0"/>
              <a:t>을 가지는 새로운 벡터로 매핑하여</a:t>
            </a:r>
            <a:r>
              <a:rPr lang="en-US" altLang="ko-KR" dirty="0"/>
              <a:t>, </a:t>
            </a:r>
            <a:r>
              <a:rPr lang="ko-KR" altLang="en-US" dirty="0"/>
              <a:t>해당 요소만 </a:t>
            </a:r>
            <a:r>
              <a:rPr lang="en-US" altLang="ko-KR" dirty="0"/>
              <a:t>1</a:t>
            </a:r>
            <a:r>
              <a:rPr lang="ko-KR" altLang="en-US" dirty="0"/>
              <a:t>을 가지고 나머지는 </a:t>
            </a:r>
            <a:r>
              <a:rPr lang="en-US" altLang="ko-KR" dirty="0"/>
              <a:t>0</a:t>
            </a:r>
            <a:r>
              <a:rPr lang="ko-KR" altLang="en-US" dirty="0"/>
              <a:t>으로 변환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ACE620B-6D27-7D96-A878-1ABFACCB2B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322041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1B5C6B-7B14-769E-87A9-14946A46CC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3D541606-D64F-4FF3-49FD-00C6AC893A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4F9B06B-6142-E94D-4144-FFD44806B8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결과적으로 목표 시간 간격의 에너지 소비 </a:t>
            </a:r>
            <a:r>
              <a:rPr lang="ko-KR" altLang="en-US" dirty="0" err="1"/>
              <a:t>예측값을</a:t>
            </a:r>
            <a:r>
              <a:rPr lang="ko-KR" altLang="en-US" dirty="0"/>
              <a:t> 출력하게 됩니다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8E89CAA-1CD2-AC5F-D501-0E1E9ADF27E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45604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벤치마크 부분입니다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사용한 모델은 다음과 같습니다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899741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</a:t>
            </a:r>
            <a:r>
              <a:rPr lang="en-US" altLang="ko-KR" dirty="0"/>
              <a:t>CASE STUDY </a:t>
            </a:r>
          </a:p>
          <a:p>
            <a:endParaRPr lang="en-US" altLang="ko-KR" dirty="0"/>
          </a:p>
          <a:p>
            <a:r>
              <a:rPr lang="en-US" altLang="ko-KR" dirty="0"/>
              <a:t>Empirical approaches</a:t>
            </a:r>
            <a:r>
              <a:rPr lang="ko-KR" altLang="en-US" dirty="0"/>
              <a:t> </a:t>
            </a:r>
            <a:r>
              <a:rPr lang="en-US" altLang="ko-KR" dirty="0"/>
              <a:t>-&gt; </a:t>
            </a:r>
            <a:r>
              <a:rPr lang="ko-KR" altLang="en-US" dirty="0"/>
              <a:t>위 페이지 돌아가서 설명</a:t>
            </a:r>
            <a:r>
              <a:rPr lang="en-US" altLang="ko-KR" dirty="0"/>
              <a:t>(2</a:t>
            </a:r>
            <a:r>
              <a:rPr lang="ko-KR" altLang="en-US" dirty="0"/>
              <a:t>개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369314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일반적으로 </a:t>
            </a:r>
            <a:r>
              <a:rPr lang="ko-KR" altLang="en-US" dirty="0" err="1"/>
              <a:t>하이퍼파라미터</a:t>
            </a:r>
            <a:r>
              <a:rPr lang="ko-KR" altLang="en-US" dirty="0"/>
              <a:t> 튜닝은 매우 중요하지만</a:t>
            </a:r>
            <a:r>
              <a:rPr lang="en-US" altLang="ko-KR" dirty="0"/>
              <a:t>, </a:t>
            </a:r>
            <a:r>
              <a:rPr lang="ko-KR" altLang="en-US" dirty="0"/>
              <a:t>해당 연구에서는 전반적인 성능이 우수한 후보 방법을 찾는 데 초점을 두었기에 다음과 같이 설정하고 진행하였습니다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BPNN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</a:t>
            </a:r>
            <a:r>
              <a:rPr lang="ko-KR" altLang="en-US" dirty="0" err="1"/>
              <a:t>역전파</a:t>
            </a:r>
            <a:r>
              <a:rPr lang="ko-KR" altLang="en-US" dirty="0"/>
              <a:t> 활용 모델</a:t>
            </a:r>
            <a:endParaRPr lang="en-US" altLang="ko-KR" dirty="0"/>
          </a:p>
          <a:p>
            <a:r>
              <a:rPr lang="en-US" altLang="ko-KR" dirty="0"/>
              <a:t>Uniform</a:t>
            </a:r>
            <a:r>
              <a:rPr lang="ko-KR" altLang="en-US" dirty="0"/>
              <a:t> </a:t>
            </a:r>
            <a:r>
              <a:rPr lang="en-US" altLang="ko-KR" dirty="0"/>
              <a:t>weight</a:t>
            </a:r>
            <a:r>
              <a:rPr lang="ko-KR" altLang="en-US" dirty="0"/>
              <a:t> </a:t>
            </a:r>
            <a:r>
              <a:rPr lang="en-US" altLang="ko-KR" dirty="0"/>
              <a:t>-&gt;</a:t>
            </a:r>
            <a:r>
              <a:rPr lang="ko-KR" altLang="en-US" dirty="0"/>
              <a:t> 모든 이웃 데이터 포인트에 동일한 가중치 부여</a:t>
            </a:r>
            <a:r>
              <a:rPr lang="en-US" altLang="ko-KR" dirty="0"/>
              <a:t>(</a:t>
            </a:r>
            <a:r>
              <a:rPr lang="ko-KR" altLang="en-US" dirty="0"/>
              <a:t>평균 계산</a:t>
            </a:r>
            <a:r>
              <a:rPr lang="en-US" altLang="ko-KR" dirty="0"/>
              <a:t>)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60207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MAPE</a:t>
            </a:r>
            <a:r>
              <a:rPr lang="ko-KR" altLang="en-US" dirty="0"/>
              <a:t>값은 </a:t>
            </a:r>
            <a:r>
              <a:rPr lang="ko-KR" altLang="en-US" dirty="0" err="1"/>
              <a:t>예측값과</a:t>
            </a:r>
            <a:r>
              <a:rPr lang="ko-KR" altLang="en-US" dirty="0"/>
              <a:t> </a:t>
            </a:r>
            <a:r>
              <a:rPr lang="ko-KR" altLang="en-US" dirty="0" err="1"/>
              <a:t>실제값</a:t>
            </a:r>
            <a:r>
              <a:rPr lang="ko-KR" altLang="en-US" dirty="0"/>
              <a:t> 사이의 오차를 백분율</a:t>
            </a:r>
            <a:r>
              <a:rPr lang="en-US" altLang="ko-KR" dirty="0"/>
              <a:t>(%)</a:t>
            </a:r>
            <a:r>
              <a:rPr lang="ko-KR" altLang="en-US" dirty="0"/>
              <a:t>로 나타내어 모델의 예측 정확도를 평가하는 지표로 낮을 수록 좋은 예측 모델을 의미</a:t>
            </a:r>
            <a:endParaRPr lang="en-US" altLang="ko-KR" dirty="0"/>
          </a:p>
          <a:p>
            <a:r>
              <a:rPr lang="ko-KR" altLang="en-US" dirty="0"/>
              <a:t>시스템 수준에서는 좋은 예측을 하던 모델들이 개인 예측에서는 낮은 결과를 보이는 것을 확인할 수 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0983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69</a:t>
            </a:r>
            <a:r>
              <a:rPr lang="ko-KR" altLang="en-US" dirty="0"/>
              <a:t>가구 중 어느 모델에서 가장 우수한 성능을 보였는지 나타내는 그래프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04331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전에는 개별 가정 부하예측을 했다면</a:t>
            </a:r>
            <a:r>
              <a:rPr lang="en-US" altLang="ko-KR" dirty="0"/>
              <a:t>, </a:t>
            </a:r>
            <a:r>
              <a:rPr lang="ko-KR" altLang="en-US" dirty="0"/>
              <a:t>이번에는 </a:t>
            </a:r>
            <a:r>
              <a:rPr lang="ko-KR" altLang="en-US" dirty="0" err="1"/>
              <a:t>예측값을</a:t>
            </a:r>
            <a:r>
              <a:rPr lang="ko-KR" altLang="en-US" dirty="0"/>
              <a:t> 합한 것에 대한 </a:t>
            </a:r>
            <a:r>
              <a:rPr lang="en-US" altLang="ko-KR" dirty="0"/>
              <a:t>MAPE</a:t>
            </a:r>
            <a:r>
              <a:rPr lang="ko-KR" altLang="en-US" dirty="0"/>
              <a:t>입니다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개별 가정 부하예측에서 높은 성능을 보였던 </a:t>
            </a:r>
            <a:r>
              <a:rPr lang="en-US" altLang="ko-KR" dirty="0"/>
              <a:t>minimization</a:t>
            </a:r>
            <a:r>
              <a:rPr lang="ko-KR" altLang="en-US" dirty="0"/>
              <a:t>은 낮은 성능을 보였습니다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77107814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기존 </a:t>
            </a:r>
            <a:r>
              <a:rPr lang="ko-KR" altLang="en-US" dirty="0" err="1"/>
              <a:t>연구들에서</a:t>
            </a:r>
            <a:r>
              <a:rPr lang="ko-KR" altLang="en-US" dirty="0"/>
              <a:t> 진행한 것과 같은 방법인 총합 부하 예측입니다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LSTM</a:t>
            </a:r>
            <a:r>
              <a:rPr lang="ko-KR" altLang="en-US" dirty="0"/>
              <a:t>은 에너지 소비의 시간적관계를 파악하도록 설계 되었으므로</a:t>
            </a:r>
            <a:r>
              <a:rPr lang="en-US" altLang="ko-KR" dirty="0"/>
              <a:t>, </a:t>
            </a:r>
            <a:r>
              <a:rPr lang="ko-KR" altLang="en-US" dirty="0"/>
              <a:t>집계된 부하 예측에서 뚜렷한 결과가 나오지 않을 경우 큰 이점이 없다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39353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0278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Fig</a:t>
            </a:r>
            <a:r>
              <a:rPr lang="ko-KR" altLang="en-US" dirty="0"/>
              <a:t> </a:t>
            </a:r>
            <a:r>
              <a:rPr lang="en-US" altLang="ko-KR" dirty="0"/>
              <a:t>3</a:t>
            </a:r>
            <a:r>
              <a:rPr lang="ko-KR" altLang="en-US" dirty="0"/>
              <a:t>에서 이용한 케이스를 가지고 </a:t>
            </a: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BPNN-T</a:t>
            </a:r>
            <a:r>
              <a:rPr lang="ko-KR" altLang="en-US" dirty="0"/>
              <a:t>를 비교해보겠습니다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356447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그림설명 후 텍스트 읽기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8493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LSTM </a:t>
            </a:r>
            <a:r>
              <a:rPr lang="ko-KR" altLang="en-US" dirty="0"/>
              <a:t>부하 예측을 자세히 확인하기 위해 모든 </a:t>
            </a:r>
            <a:r>
              <a:rPr lang="en-US" altLang="ko-KR" dirty="0"/>
              <a:t>LSTM</a:t>
            </a:r>
            <a:r>
              <a:rPr lang="ko-KR" altLang="en-US" dirty="0"/>
              <a:t>의 내부 </a:t>
            </a:r>
            <a:r>
              <a:rPr lang="en-US" altLang="ko-KR" dirty="0"/>
              <a:t>states</a:t>
            </a:r>
            <a:r>
              <a:rPr lang="ko-KR" altLang="en-US" dirty="0"/>
              <a:t>부분을 확인해보겠습니다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각 커브는 </a:t>
            </a:r>
            <a:r>
              <a:rPr lang="en-US" altLang="ko-KR" dirty="0"/>
              <a:t>hidden node</a:t>
            </a:r>
            <a:r>
              <a:rPr lang="ko-KR" altLang="en-US" dirty="0"/>
              <a:t>의 내부 </a:t>
            </a:r>
            <a:r>
              <a:rPr lang="en-US" altLang="ko-KR" dirty="0"/>
              <a:t>states</a:t>
            </a:r>
            <a:r>
              <a:rPr lang="ko-KR" altLang="en-US" dirty="0"/>
              <a:t>를 동적 </a:t>
            </a:r>
            <a:r>
              <a:rPr lang="ko-KR" altLang="en-US" dirty="0" err="1"/>
              <a:t>트래킹한</a:t>
            </a:r>
            <a:r>
              <a:rPr lang="ko-KR" altLang="en-US" dirty="0"/>
              <a:t> 것입니다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아래 그래프는 이를 합친 것인데</a:t>
            </a:r>
            <a:r>
              <a:rPr lang="en-US" altLang="ko-KR" dirty="0"/>
              <a:t>, 5</a:t>
            </a:r>
            <a:r>
              <a:rPr lang="ko-KR" altLang="en-US" dirty="0"/>
              <a:t>일 기간동안 </a:t>
            </a:r>
            <a:r>
              <a:rPr lang="en-US" altLang="ko-KR" dirty="0"/>
              <a:t>5</a:t>
            </a:r>
            <a:r>
              <a:rPr lang="ko-KR" altLang="en-US" dirty="0"/>
              <a:t>번의 </a:t>
            </a:r>
            <a:r>
              <a:rPr lang="ko-KR" altLang="en-US" dirty="0" err="1"/>
              <a:t>싸이클이</a:t>
            </a:r>
            <a:r>
              <a:rPr lang="ko-KR" altLang="en-US" dirty="0"/>
              <a:t> 있는 것을 확인할 수 있습니다</a:t>
            </a:r>
            <a:r>
              <a:rPr lang="en-US" altLang="ko-KR" dirty="0"/>
              <a:t>.</a:t>
            </a:r>
          </a:p>
          <a:p>
            <a:r>
              <a:rPr lang="en-US" altLang="ko-KR" dirty="0"/>
              <a:t>LSTM</a:t>
            </a:r>
            <a:r>
              <a:rPr lang="ko-KR" altLang="en-US" dirty="0"/>
              <a:t>의 내부 상태는 알고리즘이 장기적인 시간적 관계를 학습하는 핵심 요소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70821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이상치의 수가 적으면 두 모델의 차이가 거의 없으나</a:t>
            </a:r>
            <a:r>
              <a:rPr lang="en-US" altLang="ko-KR" dirty="0"/>
              <a:t>, </a:t>
            </a:r>
            <a:r>
              <a:rPr lang="ko-KR" altLang="en-US" dirty="0"/>
              <a:t>이상치의 수가 커질수록 </a:t>
            </a:r>
            <a:r>
              <a:rPr lang="en-US" altLang="ko-KR" dirty="0"/>
              <a:t>LSTM</a:t>
            </a:r>
            <a:r>
              <a:rPr lang="ko-KR" altLang="en-US" dirty="0"/>
              <a:t>의 성능 우위가 뚜렷하게 나타납니다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996917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마지막으로 결론입니다</a:t>
            </a:r>
            <a:r>
              <a:rPr lang="en-US" altLang="ko-KR" dirty="0"/>
              <a:t>(Conclusion)</a:t>
            </a:r>
          </a:p>
          <a:p>
            <a:endParaRPr lang="en-US" altLang="ko-KR" dirty="0"/>
          </a:p>
          <a:p>
            <a:r>
              <a:rPr lang="en-US" altLang="ko-KR" dirty="0"/>
              <a:t>~ </a:t>
            </a:r>
            <a:r>
              <a:rPr lang="ko-KR" altLang="en-US" dirty="0"/>
              <a:t>확인하였습니다 로 끝내기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2819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8056" y="2551176"/>
            <a:ext cx="9922447" cy="914400"/>
          </a:xfrm>
        </p:spPr>
        <p:txBody>
          <a:bodyPr/>
          <a:lstStyle>
            <a:lvl1pPr>
              <a:defRPr sz="5400" b="0">
                <a:solidFill>
                  <a:schemeClr val="tx1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107D0E1-EAED-8E08-24BA-8F930364BA9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575304"/>
            <a:ext cx="9921943" cy="862012"/>
          </a:xfrm>
        </p:spPr>
        <p:txBody>
          <a:bodyPr>
            <a:normAutofit/>
          </a:bodyPr>
          <a:lstStyle>
            <a:lvl1pPr>
              <a:defRPr sz="2400">
                <a:solidFill>
                  <a:schemeClr val="accent2"/>
                </a:solidFill>
              </a:defRPr>
            </a:lvl1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D01C93DC-3804-5A9E-FD3D-DF7BFB2F73B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48056" y="411733"/>
            <a:ext cx="2057400" cy="667878"/>
          </a:xfrm>
          <a:prstGeom prst="rect">
            <a:avLst/>
          </a:prstGeom>
        </p:spPr>
      </p:pic>
      <p:pic>
        <p:nvPicPr>
          <p:cNvPr id="7" name="그림 6" descr="텍스트, 명함, 스크린샷, 폰트이(가) 표시된 사진&#10;&#10;자동 생성된 설명">
            <a:extLst>
              <a:ext uri="{FF2B5EF4-FFF2-40B4-BE49-F238E27FC236}">
                <a16:creationId xmlns:a16="http://schemas.microsoft.com/office/drawing/2014/main" id="{0D33A431-AD70-EC0C-9BBC-3FED312768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8259" t="29237" r="25475" b="58233"/>
          <a:stretch/>
        </p:blipFill>
        <p:spPr>
          <a:xfrm>
            <a:off x="10007723" y="5915974"/>
            <a:ext cx="1796559" cy="4865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44500" y="6427391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2/27/2025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11210543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811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2955" y="5768339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04E943F-C687-D3B3-4E36-65D69E3E2F0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298690" y="1463040"/>
            <a:ext cx="5330952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32104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2955" y="5768339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CB40353B-463E-6D13-F92E-564948AFA38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5330952" cy="4601748"/>
          </a:xfrm>
        </p:spPr>
        <p:txBody>
          <a:bodyPr/>
          <a:lstStyle>
            <a:lvl1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1pPr>
            <a:lvl2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2pPr>
            <a:lvl3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3pPr>
            <a:lvl4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4pPr>
            <a:lvl5pPr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defRPr/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0700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ABE10-5A8F-5044-434F-7434A0356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85243B5-B498-1E60-5D02-983D13E8289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552955" y="5768339"/>
            <a:ext cx="3276600" cy="141686"/>
          </a:xfrm>
          <a:prstGeom prst="rect">
            <a:avLst/>
          </a:prstGeom>
        </p:spPr>
        <p:txBody>
          <a:bodyPr/>
          <a:lstStyle/>
          <a:p>
            <a:fld id="{8BEEBAAA-29B5-4AF5-BC5F-7E580C29002D}" type="datetimeFigureOut">
              <a:rPr lang="en-US" smtClean="0"/>
              <a:pPr/>
              <a:t>2/27/2025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DBD33E4-41B8-74EC-F9A4-3E1DCC0E75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48200" y="6427391"/>
            <a:ext cx="2895600" cy="14168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2A375B-2E8B-0F31-9DE4-A5F0682ADF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832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8056" y="1447800"/>
            <a:ext cx="11210543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53042" y="6427391"/>
            <a:ext cx="3276600" cy="1416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8F39A1B-8AD1-2C34-AB40-00704468E828}"/>
              </a:ext>
            </a:extLst>
          </p:cNvPr>
          <p:cNvCxnSpPr>
            <a:cxnSpLocks/>
          </p:cNvCxnSpPr>
          <p:nvPr userDrawn="1"/>
        </p:nvCxnSpPr>
        <p:spPr>
          <a:xfrm>
            <a:off x="533400" y="1104900"/>
            <a:ext cx="11119104" cy="0"/>
          </a:xfrm>
          <a:prstGeom prst="line">
            <a:avLst/>
          </a:prstGeom>
          <a:ln w="25400">
            <a:solidFill>
              <a:srgbClr val="C40D2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5" r:id="rId3"/>
    <p:sldLayoutId id="2147483666" r:id="rId4"/>
    <p:sldLayoutId id="2147483667" r:id="rId5"/>
  </p:sldLayoutIdLst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bg2">
              <a:lumMod val="25000"/>
            </a:schemeClr>
          </a:solidFill>
          <a:latin typeface="+mn-lt"/>
          <a:ea typeface="+mj-ea"/>
          <a:cs typeface="+mj-cs"/>
        </a:defRPr>
      </a:lvl1pPr>
    </p:titleStyle>
    <p:bodyStyle>
      <a:lvl1pPr marL="0" indent="0" algn="l" defTabSz="914400" rtl="0" eaLnBrk="1" latinLnBrk="1" hangingPunct="1">
        <a:lnSpc>
          <a:spcPct val="130000"/>
        </a:lnSpc>
        <a:spcBef>
          <a:spcPts val="0"/>
        </a:spcBef>
        <a:spcAft>
          <a:spcPts val="800"/>
        </a:spcAft>
        <a:buFontTx/>
        <a:buNone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1pPr>
      <a:lvl2pPr marL="283464" indent="-283464" algn="l" defTabSz="914400" rtl="0" eaLnBrk="1" latinLnBrk="1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1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3pPr>
      <a:lvl4pPr marL="1143000" indent="-228600" algn="l" defTabSz="914400" rtl="0" eaLnBrk="1" latinLnBrk="1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4pPr>
      <a:lvl5pPr marL="1600200" indent="-228600" algn="l" defTabSz="914400" rtl="0" eaLnBrk="1" latinLnBrk="1" hangingPunct="1">
        <a:lnSpc>
          <a:spcPct val="130000"/>
        </a:lnSpc>
        <a:spcBef>
          <a:spcPts val="0"/>
        </a:spcBef>
        <a:spcAft>
          <a:spcPts val="800"/>
        </a:spcAft>
        <a:buFont typeface="Arial" panose="020B0604020202020204" pitchFamily="34" charset="0"/>
        <a:buChar char="•"/>
        <a:defRPr lang="en-US" sz="1600" kern="1200" dirty="0" smtClean="0">
          <a:solidFill>
            <a:schemeClr val="bg2">
              <a:lumMod val="25000"/>
            </a:schemeClr>
          </a:solidFill>
          <a:latin typeface="+mn-lt"/>
          <a:ea typeface="+mn-ea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984" userDrawn="1">
          <p15:clr>
            <a:srgbClr val="F26B43"/>
          </p15:clr>
        </p15:guide>
        <p15:guide id="2" pos="336" userDrawn="1">
          <p15:clr>
            <a:srgbClr val="F26B43"/>
          </p15:clr>
        </p15:guide>
        <p15:guide id="3" pos="7320" userDrawn="1">
          <p15:clr>
            <a:srgbClr val="F26B43"/>
          </p15:clr>
        </p15:guide>
        <p15:guide id="4" orient="horz" pos="912" userDrawn="1">
          <p15:clr>
            <a:srgbClr val="F26B43"/>
          </p15:clr>
        </p15:guide>
        <p15:guide id="5" orient="horz" pos="264" userDrawn="1">
          <p15:clr>
            <a:srgbClr val="F26B43"/>
          </p15:clr>
        </p15:guide>
        <p15:guide id="6" orient="horz" pos="696" userDrawn="1">
          <p15:clr>
            <a:srgbClr val="F26B43"/>
          </p15:clr>
        </p15:guide>
        <p15:guide id="7" pos="369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D66E636-D1D5-3AAC-5CD5-A2F5C585CB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8056" y="1854740"/>
            <a:ext cx="11465270" cy="1610836"/>
          </a:xfrm>
        </p:spPr>
        <p:txBody>
          <a:bodyPr>
            <a:normAutofit fontScale="90000"/>
          </a:bodyPr>
          <a:lstStyle/>
          <a:p>
            <a:r>
              <a:rPr lang="en-US" altLang="ko-KR" dirty="0"/>
              <a:t>Short-Term Residential Load Forecasting Based on LSTM Recurrent Neural Network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E831F0C-52BB-6204-5BF6-C4DDD23942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8056" y="3610137"/>
            <a:ext cx="9921943" cy="862012"/>
          </a:xfrm>
        </p:spPr>
        <p:txBody>
          <a:bodyPr/>
          <a:lstStyle/>
          <a:p>
            <a:r>
              <a:rPr lang="ko-KR" altLang="en-US" sz="2400" dirty="0">
                <a:solidFill>
                  <a:schemeClr val="accent2"/>
                </a:solidFill>
              </a:rPr>
              <a:t>세종대학교 지능기전공학부 박지호</a:t>
            </a:r>
            <a:endParaRPr lang="en-US" sz="24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508753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4A1ED0-AFC7-9158-1853-EAB84C4E2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B166169-FD9B-8138-6980-28527680559D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Abstract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INTRODUCTION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LITERATURE STUDY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EXPLORATORY DATA ANALYSIS AND PROBLEM IDENTIFICATION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THE FORECASTING FRAMEWORK BASED ON LSTM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THE BENCHMARKS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CASE STUDY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7352021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78FA407F-BC2E-41B0-1515-93D94A9F2A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Abstract</a:t>
            </a:r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59A45CFC-29E3-8EDA-94B8-F321EC8D02D2}"/>
              </a:ext>
            </a:extLst>
          </p:cNvPr>
          <p:cNvSpPr txBox="1">
            <a:spLocks/>
          </p:cNvSpPr>
          <p:nvPr/>
        </p:nvSpPr>
        <p:spPr>
          <a:xfrm>
            <a:off x="444500" y="1452649"/>
            <a:ext cx="11210543" cy="4974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/>
              <a:t>Power system(</a:t>
            </a:r>
            <a:r>
              <a:rPr lang="ko-KR" altLang="en-US" sz="2000" dirty="0"/>
              <a:t>전력 시스템</a:t>
            </a:r>
            <a:r>
              <a:rPr lang="en-US" altLang="ko-KR" sz="2000" dirty="0"/>
              <a:t>)</a:t>
            </a:r>
            <a:r>
              <a:rPr lang="ko-KR" altLang="en-US" sz="2000" dirty="0"/>
              <a:t> </a:t>
            </a:r>
            <a:r>
              <a:rPr lang="en-US" altLang="ko-KR" sz="2000" dirty="0"/>
              <a:t>-&gt;</a:t>
            </a:r>
            <a:r>
              <a:rPr lang="ko-KR" altLang="en-US" sz="2000" dirty="0"/>
              <a:t> 지능적이고 유연하며 상호작용하는 형태로 변화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소비자를 대상으로 하는 단기 부하 예측</a:t>
            </a:r>
            <a:r>
              <a:rPr lang="en-US" altLang="ko-KR" sz="2000" dirty="0"/>
              <a:t>(short-term load forecasting)</a:t>
            </a:r>
          </a:p>
          <a:p>
            <a:r>
              <a:rPr lang="en-US" altLang="ko-KR" sz="2000" dirty="0"/>
              <a:t>    -&gt; </a:t>
            </a:r>
            <a:r>
              <a:rPr lang="ko-KR" altLang="en-US" sz="2000" dirty="0"/>
              <a:t>미래 </a:t>
            </a:r>
            <a:r>
              <a:rPr lang="ko-KR" altLang="en-US" sz="2000" dirty="0" err="1"/>
              <a:t>전력망</a:t>
            </a:r>
            <a:r>
              <a:rPr lang="ko-KR" altLang="en-US" sz="2000" dirty="0"/>
              <a:t> 계획 및 운용에 중요한 역할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개인 에너지 전력량 부하 예측</a:t>
            </a:r>
            <a:endParaRPr lang="en-US" altLang="ko-KR" sz="2000" dirty="0"/>
          </a:p>
          <a:p>
            <a:pPr marL="626364" lvl="1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높은 변동성과 불확실성 때문에 예측이 어려움</a:t>
            </a:r>
            <a:endParaRPr lang="en-US" altLang="ko-KR" sz="2000" dirty="0"/>
          </a:p>
          <a:p>
            <a:pPr lvl="1" indent="0">
              <a:buNone/>
            </a:pPr>
            <a:r>
              <a:rPr lang="en-US" altLang="ko-KR" sz="2000" dirty="0"/>
              <a:t>-&gt; LSTM </a:t>
            </a:r>
            <a:r>
              <a:rPr lang="ko-KR" altLang="en-US" sz="2000" dirty="0"/>
              <a:t>순환 신경망을 기반으로 하는 </a:t>
            </a:r>
            <a:r>
              <a:rPr lang="en-US" altLang="ko-KR" sz="2000" dirty="0"/>
              <a:t>framework </a:t>
            </a:r>
            <a:r>
              <a:rPr lang="ko-KR" altLang="en-US" sz="2000" dirty="0"/>
              <a:t>제안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실제 전기 소비 정보로 테스트</a:t>
            </a:r>
            <a:r>
              <a:rPr lang="en-US" altLang="ko-KR" sz="2000" dirty="0"/>
              <a:t>, load forecasting </a:t>
            </a:r>
            <a:r>
              <a:rPr lang="ko-KR" altLang="en-US" sz="2000" dirty="0"/>
              <a:t>분야에서 최신 기법을 포함한 다양한 벤치마크 모델과 성능을 종합적으로 비교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 모델은 다른 알고리즘보다 단기 부하 예측에서 뛰어난 결과를 보임</a:t>
            </a:r>
            <a:endParaRPr lang="en-US" altLang="ko-KR" sz="2000" dirty="0"/>
          </a:p>
          <a:p>
            <a:pPr marL="626364" lvl="1" indent="-34290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4678537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556E0C-9364-F7BD-16CB-81F6EC8B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097E71-1681-93CD-F3A6-F229C3D3BAE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04984"/>
            <a:ext cx="11210543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현대 </a:t>
            </a:r>
            <a:r>
              <a:rPr lang="en-US" altLang="ko-KR" sz="2400" b="1" dirty="0"/>
              <a:t>Power System</a:t>
            </a:r>
            <a:endParaRPr lang="en-US" altLang="ko-KR" sz="24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지속 가능한 시스템으로 발전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재생 에너지</a:t>
            </a:r>
            <a:r>
              <a:rPr lang="en-US" altLang="ko-KR" sz="2000" dirty="0"/>
              <a:t>, </a:t>
            </a:r>
            <a:r>
              <a:rPr lang="ko-KR" altLang="en-US" sz="2000" dirty="0"/>
              <a:t>전기 자동차 보급률 증가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문제점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전력 회사와 소비자 간의 복잡한 상호작용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소비자의 예측 불가능한 전력 사용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è"/>
            </a:pPr>
            <a:r>
              <a:rPr lang="ko-KR" altLang="en-US" sz="2000" dirty="0"/>
              <a:t>시스템 안정성 문제 발생</a:t>
            </a:r>
            <a:endParaRPr lang="en-US" altLang="ko-KR" sz="2000" dirty="0"/>
          </a:p>
          <a:p>
            <a:pPr lvl="2" indent="0">
              <a:buNone/>
            </a:pPr>
            <a:endParaRPr lang="en-US" altLang="ko-KR" sz="20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b="1" dirty="0"/>
              <a:t>문제를 해결하기 위해서는 주거 고객 수준의 </a:t>
            </a:r>
            <a:r>
              <a:rPr lang="en-US" altLang="ko-KR" sz="2000" b="1" dirty="0"/>
              <a:t>Short-Term electric load forecasting </a:t>
            </a:r>
            <a:r>
              <a:rPr lang="ko-KR" altLang="en-US" sz="2000" b="1" dirty="0"/>
              <a:t>필요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29769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DF4201-214D-82F3-F8C9-BA65B01ED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D4FC24F-F35A-FE63-E11A-3C5E07CFFA1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317896"/>
            <a:ext cx="11486243" cy="4964351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Load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forecasting</a:t>
            </a:r>
            <a:r>
              <a:rPr lang="ko-KR" altLang="en-US" sz="2400" b="1" dirty="0"/>
              <a:t> 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에너지 저장 시스템</a:t>
            </a:r>
            <a:r>
              <a:rPr lang="en-US" altLang="ko-KR" sz="2000" dirty="0"/>
              <a:t>(ES)</a:t>
            </a:r>
            <a:r>
              <a:rPr lang="ko-KR" altLang="en-US" sz="2000" dirty="0"/>
              <a:t>이나 지능형 수요 대응 기술</a:t>
            </a:r>
            <a:r>
              <a:rPr lang="en-US" altLang="ko-KR" sz="2000" dirty="0"/>
              <a:t>(DR)</a:t>
            </a:r>
            <a:r>
              <a:rPr lang="ko-KR" altLang="en-US" sz="2000" dirty="0"/>
              <a:t>을</a:t>
            </a:r>
            <a:r>
              <a:rPr lang="en-US" altLang="ko-KR" sz="2000" dirty="0"/>
              <a:t> </a:t>
            </a:r>
            <a:r>
              <a:rPr lang="ko-KR" altLang="en-US" sz="2000" dirty="0"/>
              <a:t>유연하게 결합하여 최대 부하 감소 달성 가능 </a:t>
            </a:r>
          </a:p>
          <a:p>
            <a:pPr lvl="1" indent="0">
              <a:buNone/>
            </a:pPr>
            <a:r>
              <a:rPr lang="en-US" altLang="ko-KR" sz="2000" dirty="0"/>
              <a:t>-&gt; </a:t>
            </a:r>
            <a:r>
              <a:rPr lang="ko-KR" altLang="en-US" sz="2000" dirty="0"/>
              <a:t>부하 균형을 유지하거나 시장 비용을 절감하는 데 중요한 역할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SMI(Smart Meter Infrastructure)</a:t>
            </a:r>
            <a:r>
              <a:rPr lang="ko-KR" altLang="en-US" sz="2400" b="1" dirty="0"/>
              <a:t>의 개발 및 세계화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Smart meter : </a:t>
            </a:r>
            <a:r>
              <a:rPr lang="ko-KR" altLang="en-US" sz="2000" dirty="0"/>
              <a:t>전력 사용 데이터를 실시간으로 측정 및 전송하는 장치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개별 고객의 </a:t>
            </a:r>
            <a:r>
              <a:rPr lang="en-US" altLang="ko-KR" sz="2000" dirty="0"/>
              <a:t>short-term load forecasting</a:t>
            </a:r>
            <a:r>
              <a:rPr lang="ko-KR" altLang="en-US" sz="2000" dirty="0"/>
              <a:t>에 새로운 기회</a:t>
            </a:r>
            <a:endParaRPr lang="en-US" altLang="ko-KR" sz="2000" dirty="0"/>
          </a:p>
          <a:p>
            <a:pPr lvl="2" indent="0">
              <a:buNone/>
            </a:pPr>
            <a:r>
              <a:rPr lang="en-US" altLang="ko-KR" sz="2000" dirty="0"/>
              <a:t>-&gt;</a:t>
            </a:r>
            <a:r>
              <a:rPr lang="ko-KR" altLang="en-US" sz="2000" dirty="0"/>
              <a:t> </a:t>
            </a:r>
            <a:r>
              <a:rPr lang="en-US" altLang="ko-KR" sz="2000" dirty="0"/>
              <a:t>Smart</a:t>
            </a:r>
            <a:r>
              <a:rPr lang="ko-KR" altLang="en-US" sz="2000" dirty="0"/>
              <a:t> </a:t>
            </a:r>
            <a:r>
              <a:rPr lang="en-US" altLang="ko-KR" sz="2000" dirty="0"/>
              <a:t>grid</a:t>
            </a:r>
            <a:r>
              <a:rPr lang="ko-KR" altLang="en-US" sz="2000" dirty="0"/>
              <a:t>로 전환할 수 있는 기반 마련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Smart grid : </a:t>
            </a:r>
            <a:r>
              <a:rPr lang="ko-KR" altLang="en-US" sz="2000" dirty="0"/>
              <a:t>전력망에 </a:t>
            </a:r>
            <a:r>
              <a:rPr lang="en-US" altLang="ko-KR" sz="2000" dirty="0"/>
              <a:t>IT</a:t>
            </a:r>
            <a:r>
              <a:rPr lang="ko-KR" altLang="en-US" sz="2000" dirty="0"/>
              <a:t>기술을 접목하여 전력 공급과 소비를 효율적으로 관리하는 </a:t>
            </a:r>
            <a:r>
              <a:rPr lang="ko-KR" altLang="en-US" sz="2000" dirty="0" err="1"/>
              <a:t>전력망</a:t>
            </a:r>
            <a:r>
              <a:rPr lang="ko-KR" altLang="en-US" sz="2000" dirty="0"/>
              <a:t> 시스템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9840273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0DD237F-50AA-C4B9-4CA9-F6ADDA6CA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70C72A7-B41A-95B3-0F68-AD7D40A5B9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538513"/>
            <a:ext cx="11587843" cy="503645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Short-term</a:t>
            </a:r>
            <a:r>
              <a:rPr lang="ko-KR" altLang="en-US" sz="2400" dirty="0"/>
              <a:t> </a:t>
            </a:r>
            <a:r>
              <a:rPr lang="en-US" altLang="ko-KR" sz="2400" dirty="0"/>
              <a:t>load</a:t>
            </a:r>
            <a:r>
              <a:rPr lang="ko-KR" altLang="en-US" sz="2400" dirty="0"/>
              <a:t> </a:t>
            </a:r>
            <a:r>
              <a:rPr lang="en-US" altLang="ko-KR" sz="2400" dirty="0"/>
              <a:t>forecasting</a:t>
            </a:r>
            <a:r>
              <a:rPr lang="ko-KR" altLang="en-US" sz="2400" dirty="0"/>
              <a:t>에 대한 다양한 방법론이 존재하지만</a:t>
            </a:r>
            <a:r>
              <a:rPr lang="en-US" altLang="ko-KR" sz="2400" dirty="0"/>
              <a:t>, </a:t>
            </a:r>
            <a:r>
              <a:rPr lang="ko-KR" altLang="en-US" sz="2400" dirty="0"/>
              <a:t>부하 변동성이 큰</a:t>
            </a:r>
            <a:br>
              <a:rPr lang="en-US" altLang="ko-KR" sz="2400" dirty="0"/>
            </a:br>
            <a:r>
              <a:rPr lang="ko-KR" altLang="en-US" sz="2400" dirty="0"/>
              <a:t> 문제로 인해 개별 고객을 다룬 사례는 매우 적음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400" dirty="0"/>
          </a:p>
          <a:p>
            <a:r>
              <a:rPr lang="en-US" altLang="ko-KR" sz="2400" dirty="0"/>
              <a:t>-&gt; </a:t>
            </a:r>
            <a:r>
              <a:rPr lang="ko-KR" altLang="en-US" sz="2400" dirty="0"/>
              <a:t>주거 단기 부하 예측 문제를 해결하는 데 기여하는 것을 목표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5526295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BA004D0-770E-ED84-4198-DEE4042EF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INTRODUCTION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7A7DE5C4-57E2-97E6-2269-F854D2F87A8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364341"/>
            <a:ext cx="11587843" cy="493485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진행 순서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EDA</a:t>
            </a:r>
            <a:r>
              <a:rPr lang="ko-KR" altLang="en-US" sz="2000" dirty="0"/>
              <a:t>를 수행하여 시스템 전체 부하</a:t>
            </a:r>
            <a:r>
              <a:rPr lang="en-US" altLang="ko-KR" sz="2000" dirty="0"/>
              <a:t>(system-level loads)</a:t>
            </a:r>
            <a:r>
              <a:rPr lang="ko-KR" altLang="en-US" sz="2000" dirty="0"/>
              <a:t>와 개별 가정 부하</a:t>
            </a:r>
            <a:r>
              <a:rPr lang="en-US" altLang="ko-KR" sz="2000" dirty="0"/>
              <a:t>(individual household loads) </a:t>
            </a:r>
            <a:r>
              <a:rPr lang="ko-KR" altLang="en-US" sz="2000" dirty="0"/>
              <a:t>간의 차이 비교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EDA(exploratory data analysis, </a:t>
            </a:r>
            <a:r>
              <a:rPr lang="ko-KR" altLang="en-US" sz="2000" dirty="0"/>
              <a:t>탐색적 데이터 분석</a:t>
            </a:r>
            <a:r>
              <a:rPr lang="en-US" altLang="ko-KR" sz="2000" dirty="0"/>
              <a:t>) : </a:t>
            </a:r>
            <a:r>
              <a:rPr lang="ko-KR" altLang="en-US" sz="2000" dirty="0"/>
              <a:t>데이터를 시각화하고 패턴을 파악하는 과정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Density-based clustering technique</a:t>
            </a:r>
            <a:r>
              <a:rPr lang="ko-KR" altLang="en-US" sz="2000" dirty="0"/>
              <a:t>를</a:t>
            </a:r>
            <a:r>
              <a:rPr lang="en-US" altLang="ko-KR" sz="2000" dirty="0"/>
              <a:t> </a:t>
            </a:r>
            <a:r>
              <a:rPr lang="ko-KR" altLang="en-US" sz="2000" dirty="0"/>
              <a:t>활용하여 가정용 전력 소비 패턴의 불규칙성 평가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Density-based clustering technique : </a:t>
            </a:r>
            <a:r>
              <a:rPr lang="ko-KR" altLang="en-US" sz="2000" dirty="0"/>
              <a:t>데이터의 밀집된 영역을 클러스터로 정의</a:t>
            </a:r>
            <a:r>
              <a:rPr lang="en-US" altLang="ko-KR" sz="2000" dirty="0"/>
              <a:t>, </a:t>
            </a:r>
            <a:r>
              <a:rPr lang="ko-KR" altLang="en-US" sz="2000" dirty="0"/>
              <a:t>밀도가 낮은 점들은 이상치로 간주하는 기법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LSTM </a:t>
            </a:r>
            <a:r>
              <a:rPr lang="ko-KR" altLang="en-US" sz="2000" dirty="0"/>
              <a:t>기반의 주거 부하 예측 프레임워크 설명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전체 레벨에서 개별 예측을 집계하는 방식이</a:t>
            </a:r>
            <a:r>
              <a:rPr lang="en-US" altLang="ko-KR" sz="2000" dirty="0"/>
              <a:t>, </a:t>
            </a:r>
            <a:r>
              <a:rPr lang="ko-KR" altLang="en-US" sz="2000" dirty="0"/>
              <a:t>집합된 부하를 직접 예측하는 것 보다 일반적으로 </a:t>
            </a:r>
            <a:br>
              <a:rPr lang="en-US" altLang="ko-KR" sz="2000" dirty="0"/>
            </a:br>
            <a:r>
              <a:rPr lang="ko-KR" altLang="en-US" sz="2000" dirty="0"/>
              <a:t>정확함을 증명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0782862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A503B2-94A8-7AE1-4F1D-AB55A6DAC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LITERATURE STUDY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3F5A87-AD53-96AA-D673-0FFE4675313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364341"/>
            <a:ext cx="11587843" cy="4934857"/>
          </a:xfrm>
        </p:spPr>
        <p:txBody>
          <a:bodyPr>
            <a:no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기존 연구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대부분의 연구는 시스템 </a:t>
            </a:r>
            <a:r>
              <a:rPr lang="en-US" altLang="ko-KR" sz="2000" dirty="0"/>
              <a:t>or </a:t>
            </a:r>
            <a:r>
              <a:rPr lang="ko-KR" altLang="en-US" sz="2000" dirty="0"/>
              <a:t>변전소 수준에서의 부하 예측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일부 주거 수준의 부하 예측 연구를 진행했으나 여러 한계점이 있음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MAPE(</a:t>
            </a:r>
            <a:r>
              <a:rPr lang="ko-KR" altLang="en-US" sz="2000" dirty="0"/>
              <a:t>평균 절대 백분율 오차</a:t>
            </a:r>
            <a:r>
              <a:rPr lang="en-US" altLang="ko-KR" sz="2000" dirty="0"/>
              <a:t>) </a:t>
            </a:r>
            <a:r>
              <a:rPr lang="ko-KR" altLang="en-US" sz="2000" dirty="0"/>
              <a:t>대신 </a:t>
            </a:r>
            <a:r>
              <a:rPr lang="en-US" altLang="ko-KR" sz="2000" dirty="0"/>
              <a:t>RMSE(</a:t>
            </a:r>
            <a:r>
              <a:rPr lang="ko-KR" altLang="en-US" sz="2000" dirty="0"/>
              <a:t>평균 제곱근 오차</a:t>
            </a:r>
            <a:r>
              <a:rPr lang="en-US" altLang="ko-KR" sz="2000" dirty="0"/>
              <a:t>)</a:t>
            </a:r>
            <a:r>
              <a:rPr lang="ko-KR" altLang="en-US" sz="2000" dirty="0"/>
              <a:t>를 사용하여 성능 측정</a:t>
            </a:r>
            <a:endParaRPr lang="en-US" altLang="ko-KR" sz="2000" dirty="0"/>
          </a:p>
          <a:p>
            <a:pPr lvl="3" indent="0">
              <a:buNone/>
            </a:pPr>
            <a:r>
              <a:rPr lang="en-US" altLang="ko-KR" sz="2000" dirty="0"/>
              <a:t>-&gt; RMSE</a:t>
            </a:r>
            <a:r>
              <a:rPr lang="ko-KR" altLang="en-US" sz="2000" dirty="0"/>
              <a:t>는 </a:t>
            </a:r>
            <a:r>
              <a:rPr lang="en-US" altLang="ko-KR" sz="2000" dirty="0"/>
              <a:t>MAPE</a:t>
            </a:r>
            <a:r>
              <a:rPr lang="ko-KR" altLang="en-US" sz="2000" dirty="0"/>
              <a:t>보다 일반적으로 덜 사용되는 지표</a:t>
            </a:r>
            <a:r>
              <a:rPr lang="en-US" altLang="ko-KR" sz="2000" dirty="0"/>
              <a:t>, </a:t>
            </a:r>
            <a:r>
              <a:rPr lang="ko-KR" altLang="en-US" sz="2000" dirty="0"/>
              <a:t>직접적인 비교가 어려움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LSTM </a:t>
            </a:r>
            <a:r>
              <a:rPr lang="ko-KR" altLang="en-US" sz="2000" dirty="0"/>
              <a:t>선택 이유 부족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단일 가정집 데이터 사용</a:t>
            </a: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4181348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C67895C-57AC-FB01-8184-FEA56E050F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219CB6B-DA5A-AC11-5115-6967D070D4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40"/>
            <a:ext cx="6567135" cy="4601748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사용 데이터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SGSC(Smart Grid, Smart City) </a:t>
            </a:r>
            <a:r>
              <a:rPr lang="ko-KR" altLang="en-US" sz="2000" dirty="0"/>
              <a:t>데이터 사용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호주 정부의 프로젝트</a:t>
            </a:r>
            <a:r>
              <a:rPr lang="en-US" altLang="ko-KR" sz="2000" dirty="0"/>
              <a:t>, </a:t>
            </a:r>
            <a:r>
              <a:rPr lang="ko-KR" altLang="en-US" sz="2000" dirty="0"/>
              <a:t>개인 부하 데이터</a:t>
            </a:r>
            <a:endParaRPr lang="en-US" altLang="ko-KR" sz="2000" dirty="0"/>
          </a:p>
          <a:p>
            <a:pPr lvl="1" indent="0">
              <a:buNone/>
            </a:pP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Dataset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SGSC</a:t>
            </a:r>
            <a:r>
              <a:rPr lang="ko-KR" altLang="en-US" sz="2000" dirty="0"/>
              <a:t>의 </a:t>
            </a:r>
            <a:r>
              <a:rPr lang="en-US" altLang="ko-KR" sz="2000" dirty="0"/>
              <a:t>4</a:t>
            </a:r>
            <a:r>
              <a:rPr lang="ko-KR" altLang="en-US" sz="2000" dirty="0"/>
              <a:t>년간 데이터 사용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온수 시스템을 갖춘 </a:t>
            </a:r>
            <a:r>
              <a:rPr lang="en-US" altLang="ko-KR" sz="2000" dirty="0"/>
              <a:t>69</a:t>
            </a:r>
            <a:r>
              <a:rPr lang="ko-KR" altLang="en-US" sz="2000" dirty="0"/>
              <a:t>명의 고객 데이터 사용</a:t>
            </a: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7" name="그림 6" descr="그래픽, 폰트, 그래픽 디자인, 로고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1CE099F-C5CB-4129-E9F0-EDAD0AD12D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1635" y="1463040"/>
            <a:ext cx="4601748" cy="46017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8488253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04D7E0-DBFC-4398-4310-DCA0BB6072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975C5A8-130A-2383-2846-E43889A255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F429F55-A056-6FD4-5820-6F2174C76A2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39"/>
            <a:ext cx="11210544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EDA</a:t>
            </a:r>
            <a:endParaRPr lang="ko-KR" altLang="en-US" sz="24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개별 가정 전력 소비</a:t>
            </a:r>
            <a:r>
              <a:rPr lang="en-US" altLang="ko-KR" sz="2000" dirty="0"/>
              <a:t>(individual residential load)</a:t>
            </a:r>
            <a:r>
              <a:rPr lang="ko-KR" altLang="en-US" sz="2000" dirty="0"/>
              <a:t>는 명확한 지속적 패턴 부족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변전소 수준의 집계 데이터는 부드러운 패턴을 보여 예측 가능성이 높지만</a:t>
            </a:r>
            <a:r>
              <a:rPr lang="en-US" altLang="ko-KR" sz="2000" dirty="0"/>
              <a:t>, </a:t>
            </a:r>
            <a:r>
              <a:rPr lang="ko-KR" altLang="en-US" sz="2000" dirty="0"/>
              <a:t>개별 고객 데이터는 개인 습관에 크게 의존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개인 가정에서는 </a:t>
            </a:r>
            <a:r>
              <a:rPr lang="ko-KR" altLang="en-US" sz="2000" b="1" dirty="0"/>
              <a:t>하루 루틴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거주자의 생활 습관</a:t>
            </a:r>
            <a:r>
              <a:rPr lang="en-US" altLang="ko-KR" sz="2000" b="1" dirty="0"/>
              <a:t>, </a:t>
            </a:r>
            <a:r>
              <a:rPr lang="ko-KR" altLang="en-US" sz="2000" b="1" dirty="0"/>
              <a:t>주요 가전 제품의 유형</a:t>
            </a:r>
            <a:r>
              <a:rPr lang="ko-KR" altLang="en-US" sz="2000" dirty="0"/>
              <a:t>이 단기 부하 예측에 더 직접적인 영향을 미칠 수 있음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이러한 소비 차이를 설명하기 위해 </a:t>
            </a:r>
            <a:r>
              <a:rPr lang="en-US" altLang="ko-KR" sz="2000" b="1" dirty="0"/>
              <a:t>Practice Theory</a:t>
            </a:r>
            <a:r>
              <a:rPr lang="ko-KR" altLang="en-US" sz="2000" dirty="0"/>
              <a:t>를 활용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전력 소비는 가정 내 거주자의 일상적 실천</a:t>
            </a:r>
            <a:r>
              <a:rPr lang="en-US" altLang="ko-KR" sz="2000" dirty="0"/>
              <a:t>(Practice)</a:t>
            </a:r>
            <a:r>
              <a:rPr lang="ko-KR" altLang="en-US" sz="2000" dirty="0"/>
              <a:t>의 집합적인 결과</a:t>
            </a: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1174135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2B089-63C1-1F77-36AE-D66F45EB2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EF0A78-3E01-3FC3-361B-03BDE28A4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335F89C-18D7-F8A3-228C-5441D217878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39"/>
            <a:ext cx="11210544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Practice Theory</a:t>
            </a:r>
            <a:endParaRPr lang="ko-KR" altLang="en-US" sz="24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가전기기 사용을 통한 에너지 소비는 인간의 실천</a:t>
            </a:r>
            <a:r>
              <a:rPr lang="en-US" altLang="ko-KR" sz="2000" dirty="0"/>
              <a:t>(Practice)</a:t>
            </a:r>
            <a:r>
              <a:rPr lang="ko-KR" altLang="en-US" sz="2000" dirty="0"/>
              <a:t>으로 해석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실천의 유형</a:t>
            </a:r>
            <a:r>
              <a:rPr lang="en-US" altLang="ko-KR" sz="2000" dirty="0"/>
              <a:t>(</a:t>
            </a:r>
            <a:r>
              <a:rPr lang="ko-KR" altLang="en-US" sz="2000" dirty="0"/>
              <a:t>근본적인 동기의 특성에 따라 분류</a:t>
            </a:r>
            <a:r>
              <a:rPr lang="en-US" altLang="ko-KR" sz="2000" dirty="0"/>
              <a:t>)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실용적 이해</a:t>
            </a:r>
            <a:r>
              <a:rPr lang="en-US" altLang="ko-KR" sz="2000" dirty="0"/>
              <a:t> : </a:t>
            </a:r>
            <a:r>
              <a:rPr lang="ko-KR" altLang="en-US" sz="2000" dirty="0"/>
              <a:t>샤워</a:t>
            </a:r>
            <a:r>
              <a:rPr lang="en-US" altLang="ko-KR" sz="2000" dirty="0"/>
              <a:t>, </a:t>
            </a:r>
            <a:r>
              <a:rPr lang="ko-KR" altLang="en-US" sz="2000" dirty="0"/>
              <a:t>세탁과 같은 일상적 활동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규칙 </a:t>
            </a:r>
            <a:r>
              <a:rPr lang="en-US" altLang="ko-KR" sz="2000" dirty="0"/>
              <a:t>: </a:t>
            </a:r>
            <a:r>
              <a:rPr lang="ko-KR" altLang="en-US" sz="2000" dirty="0"/>
              <a:t>세탁기 사용처럼 기술적 제한을 따르는 활동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목표</a:t>
            </a:r>
            <a:r>
              <a:rPr lang="en-US" altLang="ko-KR" sz="2000" dirty="0"/>
              <a:t>-</a:t>
            </a:r>
            <a:r>
              <a:rPr lang="ko-KR" altLang="en-US" sz="2000" dirty="0"/>
              <a:t>감정적 </a:t>
            </a:r>
            <a:r>
              <a:rPr lang="en-US" altLang="ko-KR" sz="2000" dirty="0"/>
              <a:t>: TV </a:t>
            </a:r>
            <a:r>
              <a:rPr lang="ko-KR" altLang="en-US" sz="2000" dirty="0"/>
              <a:t>시청과 같이 목표 지향적 행동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일반적 이해 </a:t>
            </a:r>
            <a:r>
              <a:rPr lang="en-US" altLang="ko-KR" sz="2000" dirty="0"/>
              <a:t>: </a:t>
            </a:r>
            <a:r>
              <a:rPr lang="ko-KR" altLang="en-US" sz="2000" dirty="0"/>
              <a:t>종교 활동과 같이 지속적</a:t>
            </a:r>
            <a:r>
              <a:rPr lang="en-US" altLang="ko-KR" sz="2000" dirty="0"/>
              <a:t>, </a:t>
            </a:r>
            <a:r>
              <a:rPr lang="ko-KR" altLang="en-US" sz="2000" dirty="0"/>
              <a:t>규칙적인 활동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실천 유형이 가정 내 전력 소비 패턴을 생성</a:t>
            </a: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826677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842D28-EA7C-F2DE-87DF-9A86F6C30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8061EB-C9D7-4BD7-D290-5F2220C2DE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9CF75DC-CDDF-78F1-4DCC-3AF28F48E4F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39"/>
            <a:ext cx="11210544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DBSCAN</a:t>
            </a:r>
            <a:r>
              <a:rPr lang="ko-KR" altLang="en-US" sz="2400" b="1" dirty="0"/>
              <a:t>을 활용한 전력 소비 일관성 분석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DBSCAN(Density-Based</a:t>
            </a:r>
            <a:r>
              <a:rPr lang="ko-KR" altLang="en-US" sz="2000" dirty="0"/>
              <a:t> </a:t>
            </a:r>
            <a:r>
              <a:rPr lang="en-US" altLang="ko-KR" sz="2000" dirty="0"/>
              <a:t>Spatial</a:t>
            </a:r>
            <a:r>
              <a:rPr lang="ko-KR" altLang="en-US" sz="2000" dirty="0"/>
              <a:t> </a:t>
            </a:r>
            <a:r>
              <a:rPr lang="en-US" altLang="ko-KR" sz="2000" dirty="0"/>
              <a:t>Clustering of Applications with Noise)</a:t>
            </a:r>
          </a:p>
          <a:p>
            <a:pPr lvl="1" indent="0">
              <a:buNone/>
            </a:pPr>
            <a:r>
              <a:rPr lang="en-US" altLang="ko-KR" sz="2000" dirty="0"/>
              <a:t>     : </a:t>
            </a:r>
            <a:r>
              <a:rPr lang="ko-KR" altLang="en-US" sz="2000" dirty="0"/>
              <a:t>밀도가 높은 부분을 클러스터링 하는 방법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클러스터 개수 지정 필요 </a:t>
            </a:r>
            <a:r>
              <a:rPr lang="en-US" altLang="ko-KR" sz="2000" dirty="0"/>
              <a:t>x, </a:t>
            </a:r>
            <a:r>
              <a:rPr lang="ko-KR" altLang="en-US" sz="2000" dirty="0"/>
              <a:t>이상치 개념을 포함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이상치가 적을수록 일관성이 높음을 의미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Practice Theory</a:t>
            </a:r>
            <a:r>
              <a:rPr lang="ko-KR" altLang="en-US" sz="2000" dirty="0"/>
              <a:t>에 따라 전력 소비 패턴은 노이즈와 함께 반복됨</a:t>
            </a:r>
            <a:endParaRPr lang="en-US" altLang="ko-KR" sz="2000" dirty="0"/>
          </a:p>
          <a:p>
            <a:pPr lvl="1" indent="0">
              <a:buNone/>
            </a:pPr>
            <a:r>
              <a:rPr lang="en-US" altLang="ko-KR" sz="2000" dirty="0"/>
              <a:t>-&gt; DBSCAN</a:t>
            </a:r>
            <a:r>
              <a:rPr lang="ko-KR" altLang="en-US" sz="2000" dirty="0"/>
              <a:t>은 이상치를 식별하기에 이상적인 클러스터링 기법</a:t>
            </a: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152824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E72B51-31CB-F68C-27FC-BC9838E32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BEF9D6-E7DD-9250-7230-AEA4947833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CCD20CC-278E-77FC-09DC-DB25B2613C0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39"/>
            <a:ext cx="11210544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DBSCAN </a:t>
            </a:r>
            <a:r>
              <a:rPr lang="ko-KR" altLang="en-US" sz="2400" b="1" dirty="0"/>
              <a:t>파라미터 설정</a:t>
            </a:r>
            <a:r>
              <a:rPr lang="en-US" altLang="ko-KR" sz="2400" b="1" dirty="0"/>
              <a:t>(</a:t>
            </a:r>
            <a:r>
              <a:rPr lang="ko-KR" altLang="en-US" sz="2400" b="1" dirty="0"/>
              <a:t>논문 적용</a:t>
            </a:r>
            <a:r>
              <a:rPr lang="en-US" altLang="ko-KR" sz="2400" b="1" dirty="0"/>
              <a:t>)</a:t>
            </a:r>
            <a:endParaRPr lang="ko-KR" altLang="en-US" sz="24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데이터 구조</a:t>
            </a:r>
            <a:r>
              <a:rPr lang="en-US" altLang="ko-KR" sz="2000" dirty="0"/>
              <a:t> 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일일 </a:t>
            </a:r>
            <a:r>
              <a:rPr lang="en-US" altLang="ko-KR" sz="2000" dirty="0"/>
              <a:t>load</a:t>
            </a:r>
            <a:r>
              <a:rPr lang="ko-KR" altLang="en-US" sz="2000" dirty="0"/>
              <a:t> </a:t>
            </a:r>
            <a:r>
              <a:rPr lang="en-US" altLang="ko-KR" sz="2000" dirty="0"/>
              <a:t>profile -&gt; 48</a:t>
            </a:r>
            <a:r>
              <a:rPr lang="ko-KR" altLang="en-US" sz="2000" dirty="0"/>
              <a:t>개의 </a:t>
            </a:r>
            <a:r>
              <a:rPr lang="en-US" altLang="ko-KR" sz="2000" dirty="0"/>
              <a:t>30</a:t>
            </a:r>
            <a:r>
              <a:rPr lang="ko-KR" altLang="en-US" sz="2000" dirty="0"/>
              <a:t>분 단위 측정값 </a:t>
            </a:r>
            <a:r>
              <a:rPr lang="en-US" altLang="ko-KR" sz="2000" dirty="0"/>
              <a:t>-&gt; 48</a:t>
            </a:r>
            <a:r>
              <a:rPr lang="ko-KR" altLang="en-US" sz="2000" dirty="0"/>
              <a:t>차원 벡터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Eps(distance)</a:t>
            </a:r>
            <a:r>
              <a:rPr lang="ko-KR" altLang="en-US" sz="2000" dirty="0"/>
              <a:t> </a:t>
            </a:r>
            <a:r>
              <a:rPr lang="en-US" altLang="ko-KR" sz="2000" dirty="0"/>
              <a:t>: </a:t>
            </a:r>
            <a:r>
              <a:rPr lang="ko-KR" altLang="en-US" sz="2000" dirty="0"/>
              <a:t>평균 일일 에너지 소비량의 </a:t>
            </a:r>
            <a:r>
              <a:rPr lang="en-US" altLang="ko-KR" sz="2000" dirty="0"/>
              <a:t>10%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 err="1"/>
              <a:t>minSam</a:t>
            </a:r>
            <a:r>
              <a:rPr lang="en-US" altLang="ko-KR" sz="2000" dirty="0"/>
              <a:t>(</a:t>
            </a:r>
            <a:r>
              <a:rPr lang="ko-KR" altLang="en-US" sz="2000" dirty="0" err="1"/>
              <a:t>클러내스터</a:t>
            </a:r>
            <a:r>
              <a:rPr lang="ko-KR" altLang="en-US" sz="2000" dirty="0"/>
              <a:t> 내 최소 샘플 수</a:t>
            </a:r>
            <a:r>
              <a:rPr lang="en-US" altLang="ko-KR" sz="2000" dirty="0"/>
              <a:t>) : 2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거리 측정 방법 </a:t>
            </a:r>
            <a:r>
              <a:rPr lang="en-US" altLang="ko-KR" sz="2000" dirty="0"/>
              <a:t>: </a:t>
            </a:r>
            <a:r>
              <a:rPr lang="ko-KR" altLang="en-US" sz="2000" dirty="0"/>
              <a:t>유클리드 거리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분석기간  </a:t>
            </a:r>
            <a:r>
              <a:rPr lang="en-US" altLang="ko-KR" sz="2000" dirty="0"/>
              <a:t>: 2013/06/01 ~ 2013/08/31 (3</a:t>
            </a:r>
            <a:r>
              <a:rPr lang="ko-KR" altLang="en-US" sz="2000" dirty="0"/>
              <a:t>개월</a:t>
            </a:r>
            <a:r>
              <a:rPr lang="en-US" altLang="ko-KR" sz="2000" dirty="0"/>
              <a:t>)</a:t>
            </a:r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9667480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56AD25-D9A6-BCBF-E7F8-5AAB1E7D4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E90F80-E656-9840-C911-E00A2E414B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63C95852-4C78-E1BD-A45B-961E8E48989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2836" y="1394636"/>
            <a:ext cx="3721395" cy="372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A61023E-2527-273C-82C8-10B77A96BE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4893" y="1394636"/>
            <a:ext cx="6622607" cy="4648426"/>
          </a:xfrm>
          <a:prstGeom prst="rect">
            <a:avLst/>
          </a:prstGeom>
        </p:spPr>
      </p:pic>
      <p:sp>
        <p:nvSpPr>
          <p:cNvPr id="15" name="내용 개체 틀 2">
            <a:extLst>
              <a:ext uri="{FF2B5EF4-FFF2-40B4-BE49-F238E27FC236}">
                <a16:creationId xmlns:a16="http://schemas.microsoft.com/office/drawing/2014/main" id="{1AB18141-80C8-7C86-E363-2D256294BC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4818616" cy="461878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69 </a:t>
            </a:r>
            <a:r>
              <a:rPr lang="ko-KR" altLang="en-US" sz="2400" b="1" dirty="0"/>
              <a:t>가구의 일별 전력 사용량을 </a:t>
            </a:r>
            <a:br>
              <a:rPr lang="en-US" altLang="ko-KR" sz="2400" b="1" dirty="0"/>
            </a:br>
            <a:r>
              <a:rPr lang="ko-KR" altLang="en-US" sz="2400" b="1" dirty="0"/>
              <a:t>합한 데이터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패턴이 유사하고 이상치가 없다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하나의 클러스터만을 형성함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전체 가구의 전력 사용량 변동폭이 크지 않고</a:t>
            </a:r>
            <a:r>
              <a:rPr lang="en-US" altLang="ko-KR" sz="2000" dirty="0"/>
              <a:t>, </a:t>
            </a:r>
            <a:r>
              <a:rPr lang="ko-KR" altLang="en-US" sz="2000" dirty="0"/>
              <a:t>일별 패턴이 명확함</a:t>
            </a:r>
            <a:endParaRPr lang="en-US" altLang="ko-KR" sz="2000" dirty="0"/>
          </a:p>
          <a:p>
            <a:r>
              <a:rPr lang="en-US" altLang="ko-KR" sz="2000" dirty="0"/>
              <a:t>-&gt; </a:t>
            </a:r>
            <a:r>
              <a:rPr lang="ko-KR" altLang="en-US" sz="2000" dirty="0"/>
              <a:t>변전소 수준에서의 예측</a:t>
            </a: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14523773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582CA4-1A7F-0937-5A42-7BEB11B88A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911A08-63C7-03D3-F160-EB3A3FC761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AB286D86-691F-E9F1-C9A4-011817E9E66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2836" y="1394636"/>
            <a:ext cx="3721395" cy="372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A7EE67FA-38A0-5AC1-8B9A-2A62D18F2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151" y="1612436"/>
            <a:ext cx="7295705" cy="3850928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40A2D7F-E84F-BA34-2332-8FF9DC754F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373384" y="2563519"/>
            <a:ext cx="4818616" cy="461878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가구별 이상치 개수</a:t>
            </a:r>
            <a:endParaRPr lang="en-US" altLang="ko-KR" sz="2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고객마다 이상치 개수는 크게 다름</a:t>
            </a:r>
            <a:endParaRPr lang="en-US" altLang="ko-KR" sz="2000" dirty="0"/>
          </a:p>
          <a:p>
            <a:r>
              <a:rPr lang="en-US" altLang="ko-KR" sz="2000" dirty="0"/>
              <a:t>-&gt; </a:t>
            </a:r>
            <a:r>
              <a:rPr lang="ko-KR" altLang="en-US" sz="2000" dirty="0"/>
              <a:t>각 가구마다 다른 생활방식 때문</a:t>
            </a: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17321535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12CCC-3831-243B-2A62-D544D4EF0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ABDC9E-2166-110F-B0E2-2B0394D24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468CBEDB-C41D-DD12-7F27-8A5CE5F21D0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2836" y="1394636"/>
            <a:ext cx="3721395" cy="372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643038-7ADC-2C5C-ABED-2343798802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0115" y="1532857"/>
            <a:ext cx="6324929" cy="4424900"/>
          </a:xfrm>
          <a:prstGeom prst="rect">
            <a:avLst/>
          </a:prstGeom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20C664F-9667-0375-9F65-38135891631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40"/>
            <a:ext cx="4818616" cy="461878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특정 고객의 </a:t>
            </a:r>
            <a:r>
              <a:rPr lang="en-US" altLang="ko-KR" sz="2400" b="1" dirty="0"/>
              <a:t>daily profiles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대부분의 </a:t>
            </a:r>
            <a:r>
              <a:rPr lang="en-US" altLang="ko-KR" sz="2000" dirty="0"/>
              <a:t>profile</a:t>
            </a:r>
            <a:r>
              <a:rPr lang="ko-KR" altLang="en-US" sz="2000" dirty="0"/>
              <a:t>이 두 개의 주요 클러스터와 두 개의 마이너 클러스터로 나뉨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하나의 특이점만 존재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두 가지 주요한 전력 사용 패턴을 확인할 수 있음</a:t>
            </a: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070509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A0802-FD0E-2AFA-6399-0C1EC3C5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그림 5">
            <a:extLst>
              <a:ext uri="{FF2B5EF4-FFF2-40B4-BE49-F238E27FC236}">
                <a16:creationId xmlns:a16="http://schemas.microsoft.com/office/drawing/2014/main" id="{F152ACD7-EDEA-F6E7-E4C0-656E52241F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3116" y="1647887"/>
            <a:ext cx="6491319" cy="4274447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6E3D5141-6953-F266-99A1-9484D020B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8ECD7CEA-7E9E-14A6-F8A0-5ADDD505D4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2836" y="1394636"/>
            <a:ext cx="3721395" cy="372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7EDD65E4-E13E-9F8B-8872-43F141560C3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37565" y="1808607"/>
            <a:ext cx="5063165" cy="461878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하나의 클러스터 조차 없는 케이스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전혀 일관성을 보이지 않음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클러스터 생성 불가</a:t>
            </a:r>
            <a:br>
              <a:rPr lang="en-US" altLang="ko-KR" sz="2000" dirty="0"/>
            </a:b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73287409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654465-EB2D-8874-47A4-315A2024C2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110538-E3DC-6DED-A20A-2BFB80E71D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6C412B67-5213-7894-47DF-24F42970E59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2836" y="1394636"/>
            <a:ext cx="3721395" cy="372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38B822B-4593-7DF8-9135-BC378FE0FBE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67835" y="1394636"/>
            <a:ext cx="6888471" cy="461878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개별 부하 패턴 </a:t>
            </a:r>
            <a:r>
              <a:rPr lang="en-US" altLang="ko-KR" sz="2400" b="1" dirty="0"/>
              <a:t>VS </a:t>
            </a:r>
            <a:r>
              <a:rPr lang="ko-KR" altLang="en-US" sz="2400" b="1" dirty="0"/>
              <a:t>집합 부하 패턴</a:t>
            </a:r>
            <a:endParaRPr lang="en-US" altLang="ko-KR" sz="2400" b="1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Fig 3</a:t>
            </a:r>
            <a:r>
              <a:rPr lang="ko-KR" altLang="en-US" sz="2000" dirty="0"/>
              <a:t>과 </a:t>
            </a:r>
            <a:r>
              <a:rPr lang="en-US" altLang="ko-KR" sz="2000" dirty="0"/>
              <a:t>Fig 4</a:t>
            </a:r>
            <a:r>
              <a:rPr lang="ko-KR" altLang="en-US" sz="2000" dirty="0"/>
              <a:t>는 개별 </a:t>
            </a:r>
            <a:r>
              <a:rPr lang="en-US" altLang="ko-KR" sz="2000" dirty="0"/>
              <a:t>load, Fig 1</a:t>
            </a:r>
            <a:r>
              <a:rPr lang="ko-KR" altLang="en-US" sz="2000" dirty="0"/>
              <a:t>은 집합 </a:t>
            </a:r>
            <a:r>
              <a:rPr lang="en-US" altLang="ko-KR" sz="2000" dirty="0"/>
              <a:t>load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Fig 1</a:t>
            </a:r>
            <a:r>
              <a:rPr lang="ko-KR" altLang="en-US" sz="2000" dirty="0"/>
              <a:t>의 패턴이 훨씬 안정적</a:t>
            </a:r>
            <a:endParaRPr lang="en-US" altLang="ko-KR" sz="20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Fig 3</a:t>
            </a:r>
            <a:r>
              <a:rPr lang="ko-KR" altLang="en-US" sz="2000" dirty="0"/>
              <a:t>은 일정한 패턴을 보이지만</a:t>
            </a:r>
            <a:r>
              <a:rPr lang="en-US" altLang="ko-KR" sz="2000" dirty="0"/>
              <a:t>, </a:t>
            </a:r>
            <a:r>
              <a:rPr lang="ko-KR" altLang="en-US" sz="2000" dirty="0"/>
              <a:t>두드러진 두 가지 패턴 </a:t>
            </a:r>
            <a:br>
              <a:rPr lang="en-US" altLang="ko-KR" sz="2000" dirty="0"/>
            </a:br>
            <a:r>
              <a:rPr lang="ko-KR" altLang="en-US" sz="2000" dirty="0"/>
              <a:t>존재</a:t>
            </a:r>
            <a:endParaRPr lang="en-US" altLang="ko-KR" sz="2000" dirty="0"/>
          </a:p>
          <a:p>
            <a:endParaRPr lang="en-US" altLang="ko-KR" sz="2000" dirty="0"/>
          </a:p>
          <a:p>
            <a:r>
              <a:rPr lang="en-US" altLang="ko-KR" sz="2000" dirty="0"/>
              <a:t>-&gt; </a:t>
            </a:r>
            <a:r>
              <a:rPr lang="ko-KR" altLang="en-US" sz="2000" dirty="0"/>
              <a:t>기존 연구에서 사용한 변전소 수준의 부하 예측 접근 </a:t>
            </a:r>
            <a:br>
              <a:rPr lang="en-US" altLang="ko-KR" sz="2000" dirty="0"/>
            </a:br>
            <a:r>
              <a:rPr lang="ko-KR" altLang="en-US" sz="2000" dirty="0"/>
              <a:t>방법은 개별 부하 예측에는 적합하지 않을 수 있다</a:t>
            </a: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395DEA1-87CC-CCFE-A7B7-F743FD20CB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661" y="1150087"/>
            <a:ext cx="4706839" cy="3099391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BB78AF4-6166-267C-95BF-77C006FB88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39345" y="3704028"/>
            <a:ext cx="4415699" cy="3099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932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444DC-3C65-33BE-C630-29CCC88F66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93915C9-612C-89F6-896B-E11205F627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EXPLORATORY DATA ANALYSIS AND PROBLEM IDENTIFICATION</a:t>
            </a:r>
            <a:endParaRPr lang="ko-KR" altLang="en-US" dirty="0"/>
          </a:p>
        </p:txBody>
      </p:sp>
      <p:sp>
        <p:nvSpPr>
          <p:cNvPr id="9" name="AutoShape 8">
            <a:extLst>
              <a:ext uri="{FF2B5EF4-FFF2-40B4-BE49-F238E27FC236}">
                <a16:creationId xmlns:a16="http://schemas.microsoft.com/office/drawing/2014/main" id="{6B994907-1FA0-154C-63FA-73FF0DF52C33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232836" y="1394636"/>
            <a:ext cx="3721395" cy="3721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F1AD383-D752-21A4-FFA4-B685E2B210E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4164" y="1394636"/>
            <a:ext cx="11080880" cy="5165652"/>
          </a:xfrm>
        </p:spPr>
        <p:txBody>
          <a:bodyPr>
            <a:normAutofit fontScale="92500" lnSpcReduction="2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b="1" dirty="0"/>
              <a:t>더 나은 예측 성능을 위해서</a:t>
            </a:r>
            <a:endParaRPr lang="en-US" altLang="ko-KR" sz="24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과거 데이터에서 패턴을 찾고 행동 양식으로 해석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전력 소비 패턴을 분석 </a:t>
            </a:r>
            <a:r>
              <a:rPr lang="en-US" altLang="ko-KR" sz="2000" dirty="0"/>
              <a:t>-&gt; </a:t>
            </a:r>
            <a:r>
              <a:rPr lang="ko-KR" altLang="en-US" sz="2000" b="1" dirty="0"/>
              <a:t>일정한 규칙성</a:t>
            </a:r>
            <a:r>
              <a:rPr lang="ko-KR" altLang="en-US" sz="2000" dirty="0"/>
              <a:t>을 발견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데이터를 바탕으로 </a:t>
            </a:r>
            <a:r>
              <a:rPr lang="ko-KR" altLang="en-US" sz="2000" b="1" dirty="0"/>
              <a:t>거주민의 생활 습관을 이해</a:t>
            </a:r>
            <a:endParaRPr lang="en-US" altLang="ko-KR" sz="20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모델 구축 과정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단순한 데이터 분석 </a:t>
            </a:r>
            <a:r>
              <a:rPr lang="en-US" altLang="ko-KR" sz="2000" dirty="0"/>
              <a:t>X -&gt;</a:t>
            </a:r>
            <a:r>
              <a:rPr lang="ko-KR" altLang="en-US" sz="2000" dirty="0"/>
              <a:t> 의미 있는 패턴을 학습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시간대에 따른 변동보다 일정한 패턴을 학습하는 것이 핵심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LSTM</a:t>
            </a:r>
            <a:r>
              <a:rPr lang="ko-KR" altLang="en-US" sz="2000" dirty="0"/>
              <a:t>을 활용한 예측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시계열 상관관계를 학습하는 능력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전력 소비 패턴 </a:t>
            </a:r>
            <a:r>
              <a:rPr lang="en-US" altLang="ko-KR" sz="2000" dirty="0"/>
              <a:t>-&gt; </a:t>
            </a:r>
            <a:r>
              <a:rPr lang="ko-KR" altLang="en-US" sz="2000" dirty="0"/>
              <a:t>거주민의 상태 추론 및 기억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미래 전력 소비량을 예측할 것을 기대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951647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B6C43-4C78-623E-B8A7-2221978A6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68308165-9C26-5D49-DF75-CD0A1754671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201480"/>
            <a:ext cx="11210544" cy="5140850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RNNs(Recurrent Neural Networks)</a:t>
            </a:r>
            <a:endParaRPr lang="ko-KR" altLang="en-US" sz="24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이전 정보와 현재 상황 사이의 시간적 상관관계</a:t>
            </a:r>
            <a:r>
              <a:rPr lang="en-US" altLang="ko-KR" sz="2000" dirty="0"/>
              <a:t>(temporal correlation)</a:t>
            </a:r>
            <a:r>
              <a:rPr lang="ko-KR" altLang="en-US" sz="2000" dirty="0"/>
              <a:t>을 설립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시계열 문제에서 </a:t>
            </a:r>
            <a:r>
              <a:rPr lang="en-US" altLang="ko-KR" sz="2000" dirty="0"/>
              <a:t>t-1 </a:t>
            </a:r>
            <a:r>
              <a:rPr lang="ko-KR" altLang="en-US" sz="2000" dirty="0"/>
              <a:t>시점에 내린 결정이 </a:t>
            </a:r>
            <a:r>
              <a:rPr lang="en-US" altLang="ko-KR" sz="2000" dirty="0"/>
              <a:t>t </a:t>
            </a:r>
            <a:r>
              <a:rPr lang="ko-KR" altLang="en-US" sz="2000" dirty="0"/>
              <a:t>시점 결정에 영향을 줌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역전파를 이용해 학습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문제점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기울기 소실 </a:t>
            </a:r>
            <a:r>
              <a:rPr lang="en-US" altLang="ko-KR" sz="2000" dirty="0"/>
              <a:t>-&gt; </a:t>
            </a:r>
            <a:r>
              <a:rPr lang="ko-KR" altLang="en-US" sz="2000" dirty="0"/>
              <a:t>기울기가 빠르게 </a:t>
            </a:r>
            <a:r>
              <a:rPr lang="en-US" altLang="ko-KR" sz="2000" dirty="0"/>
              <a:t>0</a:t>
            </a:r>
            <a:r>
              <a:rPr lang="ko-KR" altLang="en-US" sz="2000" dirty="0"/>
              <a:t>으로 수렴하여 </a:t>
            </a:r>
            <a:r>
              <a:rPr lang="ko-KR" altLang="en-US" sz="2000" b="1" dirty="0"/>
              <a:t>장기 의존성</a:t>
            </a:r>
            <a:r>
              <a:rPr lang="ko-KR" altLang="en-US" sz="2000" dirty="0"/>
              <a:t> 학습이 어려움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기울기 폭발 </a:t>
            </a:r>
            <a:r>
              <a:rPr lang="en-US" altLang="ko-KR" sz="2000" dirty="0"/>
              <a:t>-&gt; </a:t>
            </a:r>
            <a:r>
              <a:rPr lang="ko-KR" altLang="en-US" sz="2000" dirty="0"/>
              <a:t>학습이 불안정함</a:t>
            </a:r>
            <a:endParaRPr lang="en-US" altLang="ko-KR" sz="2000" dirty="0"/>
          </a:p>
          <a:p>
            <a:pPr lvl="1" indent="0">
              <a:buNone/>
            </a:pP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31B59CA4-2885-17FE-B2A5-594AF28747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93941" y="4656175"/>
            <a:ext cx="8143875" cy="190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7295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42DFD6-8DBE-819D-AA2F-399A3F1948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491BA-20C2-F3CC-0C3F-00F980A4A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AC799F3F-72B3-1A91-426B-3A4F9CF097F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39"/>
            <a:ext cx="6466664" cy="4964351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LSTM(Long Short-Term Memory)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RNNs</a:t>
            </a:r>
            <a:r>
              <a:rPr lang="ko-KR" altLang="en-US" sz="2000" dirty="0"/>
              <a:t>의 문제를 극복하기 위한 모델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Memory cell gate (</a:t>
            </a:r>
            <a:r>
              <a:rPr lang="en-US" altLang="ko-KR" sz="2000" b="1" dirty="0"/>
              <a:t>s</a:t>
            </a:r>
            <a:r>
              <a:rPr lang="en-US" altLang="ko-KR" sz="2000" dirty="0"/>
              <a:t>)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S_(t-1)</a:t>
            </a:r>
            <a:r>
              <a:rPr lang="ko-KR" altLang="en-US" sz="2000" dirty="0"/>
              <a:t>은 중간 </a:t>
            </a:r>
            <a:r>
              <a:rPr lang="en-US" altLang="ko-KR" sz="2000" dirty="0"/>
              <a:t>output h_(t-1) </a:t>
            </a:r>
            <a:r>
              <a:rPr lang="ko-KR" altLang="en-US" sz="2000" dirty="0"/>
              <a:t>과 현재 </a:t>
            </a:r>
            <a:r>
              <a:rPr lang="en-US" altLang="ko-KR" sz="2000" dirty="0"/>
              <a:t>input </a:t>
            </a:r>
            <a:r>
              <a:rPr lang="en-US" altLang="ko-KR" sz="2000" dirty="0" err="1"/>
              <a:t>x_t</a:t>
            </a:r>
            <a:r>
              <a:rPr lang="ko-KR" altLang="en-US" sz="2000" dirty="0"/>
              <a:t>와</a:t>
            </a:r>
            <a:br>
              <a:rPr lang="en-US" altLang="ko-KR" sz="2000" dirty="0"/>
            </a:br>
            <a:r>
              <a:rPr lang="ko-KR" altLang="en-US" sz="2000" dirty="0"/>
              <a:t>상호작용하여</a:t>
            </a:r>
            <a:r>
              <a:rPr lang="en-US" altLang="ko-KR" sz="2000" dirty="0"/>
              <a:t>, </a:t>
            </a:r>
            <a:r>
              <a:rPr lang="ko-KR" altLang="en-US" sz="2000" dirty="0"/>
              <a:t>내부 상태 벡터의 요소를 업데이트</a:t>
            </a:r>
            <a:r>
              <a:rPr lang="en-US" altLang="ko-KR" sz="2000" dirty="0"/>
              <a:t>,</a:t>
            </a:r>
            <a:br>
              <a:rPr lang="en-US" altLang="ko-KR" sz="2000" dirty="0"/>
            </a:br>
            <a:r>
              <a:rPr lang="ko-KR" altLang="en-US" sz="2000" dirty="0"/>
              <a:t>유지 </a:t>
            </a:r>
            <a:r>
              <a:rPr lang="en-US" altLang="ko-KR" sz="2000" dirty="0"/>
              <a:t>or</a:t>
            </a:r>
            <a:r>
              <a:rPr lang="ko-KR" altLang="en-US" sz="2000" dirty="0"/>
              <a:t> 삭제할지 결정</a:t>
            </a:r>
            <a:endParaRPr lang="en-US" altLang="ko-KR" sz="2000" dirty="0"/>
          </a:p>
          <a:p>
            <a:pPr lvl="1" indent="0">
              <a:buNone/>
            </a:pPr>
            <a:r>
              <a:rPr lang="en-US" altLang="ko-KR" sz="2000" dirty="0"/>
              <a:t>-&gt; </a:t>
            </a:r>
            <a:r>
              <a:rPr lang="ko-KR" altLang="en-US" sz="2000" dirty="0"/>
              <a:t>이전 </a:t>
            </a:r>
            <a:r>
              <a:rPr lang="en-US" altLang="ko-KR" sz="2000" dirty="0"/>
              <a:t>time step </a:t>
            </a:r>
            <a:r>
              <a:rPr lang="ko-KR" altLang="en-US" sz="2000" dirty="0"/>
              <a:t>출력과 현재 </a:t>
            </a:r>
            <a:r>
              <a:rPr lang="en-US" altLang="ko-KR" sz="2000" dirty="0"/>
              <a:t>time step </a:t>
            </a:r>
            <a:r>
              <a:rPr lang="ko-KR" altLang="en-US" sz="2000" dirty="0"/>
              <a:t>입력을 기반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17D478B3-0D61-8686-BC4A-9498C6E78A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41057" y="1279424"/>
            <a:ext cx="5258534" cy="5020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15894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9FB091-2438-861B-5DBE-212048B9B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921154-8FCB-2729-C971-94C2428346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A742EFC9-8C65-F5D1-B649-9DED5034E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153930"/>
            <a:ext cx="5738586" cy="5478686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A8D917FE-D98D-932B-02CF-6C8569E8DB1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2058" y="2479502"/>
            <a:ext cx="3365807" cy="1898996"/>
          </a:xfrm>
          <a:prstGeom prst="rect">
            <a:avLst/>
          </a:prstGeom>
        </p:spPr>
      </p:pic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4F1122F-FBD2-22CA-4BF8-95C92325525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17850" y="4544035"/>
            <a:ext cx="3194222" cy="1236617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altLang="ko-KR" sz="2000" dirty="0"/>
              <a:t>Memory</a:t>
            </a:r>
            <a:r>
              <a:rPr lang="ko-KR" altLang="en-US" sz="2000" dirty="0"/>
              <a:t> </a:t>
            </a:r>
            <a:r>
              <a:rPr lang="en-US" altLang="ko-KR" sz="2000" dirty="0"/>
              <a:t>cell</a:t>
            </a:r>
            <a:r>
              <a:rPr lang="ko-KR" altLang="en-US" sz="2000" dirty="0"/>
              <a:t> </a:t>
            </a:r>
            <a:r>
              <a:rPr lang="en-US" altLang="ko-KR" sz="2000" dirty="0"/>
              <a:t>gate – </a:t>
            </a:r>
            <a:r>
              <a:rPr lang="en-US" altLang="ko-KR" sz="2000" dirty="0" err="1"/>
              <a:t>s_t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중간 </a:t>
            </a:r>
            <a:r>
              <a:rPr lang="en-US" altLang="ko-KR" sz="2000" dirty="0"/>
              <a:t>output gate – </a:t>
            </a:r>
            <a:r>
              <a:rPr lang="en-US" altLang="ko-KR" sz="2000" dirty="0" err="1"/>
              <a:t>h_t</a:t>
            </a:r>
            <a:endParaRPr lang="en-US" altLang="ko-KR" sz="20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1E939EF5-2639-966C-BA7B-49E5933CA704}"/>
              </a:ext>
            </a:extLst>
          </p:cNvPr>
          <p:cNvSpPr txBox="1">
            <a:spLocks/>
          </p:cNvSpPr>
          <p:nvPr/>
        </p:nvSpPr>
        <p:spPr>
          <a:xfrm>
            <a:off x="8997778" y="2954143"/>
            <a:ext cx="3194222" cy="1589892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000" dirty="0"/>
              <a:t>:</a:t>
            </a:r>
            <a:r>
              <a:rPr lang="ko-KR" altLang="en-US" sz="2000" dirty="0"/>
              <a:t> 새로운 정보 추가</a:t>
            </a:r>
            <a:endParaRPr lang="en-US" altLang="ko-KR" sz="2000" dirty="0"/>
          </a:p>
          <a:p>
            <a:r>
              <a:rPr lang="en-US" altLang="ko-KR" sz="2000" dirty="0"/>
              <a:t>: </a:t>
            </a:r>
            <a:r>
              <a:rPr lang="ko-KR" altLang="en-US" sz="2000" dirty="0"/>
              <a:t>불필요한 정보 제거</a:t>
            </a:r>
            <a:endParaRPr lang="en-US" altLang="ko-KR" sz="2000" dirty="0"/>
          </a:p>
          <a:p>
            <a:r>
              <a:rPr lang="en-US" altLang="ko-KR" sz="2000" dirty="0"/>
              <a:t>: </a:t>
            </a:r>
            <a:r>
              <a:rPr lang="ko-KR" altLang="en-US" sz="2000" dirty="0"/>
              <a:t>다음 단계로 보낼 정보 결정</a:t>
            </a:r>
            <a:endParaRPr lang="en-US" altLang="ko-KR" sz="2000" dirty="0"/>
          </a:p>
          <a:p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24112052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1AD8A-DF67-4601-3A27-4F8E81E0A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5E7446-0C8C-15D3-7887-ED39B4FC11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B7A5B72-24E8-AE77-6FBB-2957635FD1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9056" y="4463772"/>
            <a:ext cx="4690700" cy="2095385"/>
          </a:xfrm>
        </p:spPr>
        <p:txBody>
          <a:bodyPr>
            <a:normAutofit fontScale="92500" lnSpcReduction="10000"/>
          </a:bodyPr>
          <a:lstStyle/>
          <a:p>
            <a:r>
              <a:rPr lang="en-US" altLang="ko-KR" sz="2400" dirty="0"/>
              <a:t>W → weight matrices</a:t>
            </a:r>
          </a:p>
          <a:p>
            <a:r>
              <a:rPr lang="en-US" altLang="ko-KR" sz="2400" dirty="0"/>
              <a:t>☉ → element-wise multiplication</a:t>
            </a:r>
          </a:p>
          <a:p>
            <a:r>
              <a:rPr lang="el-GR" altLang="ko-KR" sz="2400" dirty="0"/>
              <a:t>σ → </a:t>
            </a:r>
            <a:r>
              <a:rPr lang="en-US" altLang="ko-KR" sz="2400" dirty="0"/>
              <a:t>sigmoid function</a:t>
            </a:r>
          </a:p>
          <a:p>
            <a:r>
              <a:rPr lang="en-US" altLang="ko-KR" sz="2400" dirty="0"/>
              <a:t>Ø → tanh function</a:t>
            </a:r>
          </a:p>
        </p:txBody>
      </p:sp>
      <p:pic>
        <p:nvPicPr>
          <p:cNvPr id="5" name="그림 4" descr="텍스트, 폰트, 화이트, 대수학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E77D311-F8C3-0559-1591-2DA8B6FDA9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3206" y="1233836"/>
            <a:ext cx="6284293" cy="2975307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D6E9E8E7-C914-32CC-E81A-3037A39F14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00" y="1153930"/>
            <a:ext cx="5404556" cy="51597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95948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600977-B11B-577B-AEFA-B8CBFFFF0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6A01A4-74B9-6CB7-ECC0-BE74A3B65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pic>
        <p:nvPicPr>
          <p:cNvPr id="8" name="그림 7" descr="텍스트, 도표, 스크린샷, 폰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A0DCF0C-A819-7CD0-1B82-A3243FE46B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1654" y="1463040"/>
            <a:ext cx="9896234" cy="46017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09066414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F344D3-2A3C-0A74-41C4-71C0D6F89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평행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9318850D-142D-FE66-0A67-E5802066B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793" y="1149274"/>
            <a:ext cx="4060251" cy="55808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9F8E66F-35EB-C298-2C69-E9C69336C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2911A87-9BB1-874A-B150-5BB3A0C127BD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259839"/>
            <a:ext cx="7959272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LSTM Based Forecasting Framework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데이터 </a:t>
            </a:r>
            <a:r>
              <a:rPr lang="ko-KR" altLang="en-US" sz="2000" dirty="0" err="1"/>
              <a:t>전처리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E</a:t>
            </a:r>
            <a:r>
              <a:rPr lang="en-US" altLang="ko-KR" sz="2000" dirty="0"/>
              <a:t> : </a:t>
            </a:r>
            <a:r>
              <a:rPr lang="ko-KR" altLang="en-US" sz="2000" dirty="0"/>
              <a:t>과거 </a:t>
            </a:r>
            <a:r>
              <a:rPr lang="en-US" altLang="ko-KR" sz="2000" dirty="0"/>
              <a:t>K</a:t>
            </a:r>
            <a:r>
              <a:rPr lang="ko-KR" altLang="en-US" sz="2000" dirty="0"/>
              <a:t>개의 </a:t>
            </a:r>
            <a:r>
              <a:rPr lang="en-US" altLang="ko-KR" sz="2000" dirty="0"/>
              <a:t>time step</a:t>
            </a:r>
            <a:r>
              <a:rPr lang="ko-KR" altLang="en-US" sz="2000" dirty="0"/>
              <a:t>에 대한 에너지 소비 시퀀스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I</a:t>
            </a:r>
            <a:r>
              <a:rPr lang="en-US" altLang="ko-KR" sz="2000" dirty="0"/>
              <a:t> : </a:t>
            </a:r>
            <a:r>
              <a:rPr lang="ko-KR" altLang="en-US" sz="2000" dirty="0"/>
              <a:t>과거 </a:t>
            </a:r>
            <a:r>
              <a:rPr lang="en-US" altLang="ko-KR" sz="2000" dirty="0"/>
              <a:t>K</a:t>
            </a:r>
            <a:r>
              <a:rPr lang="ko-KR" altLang="en-US" sz="2000" dirty="0"/>
              <a:t>개의 </a:t>
            </a:r>
            <a:r>
              <a:rPr lang="en-US" altLang="ko-KR" sz="2000" dirty="0"/>
              <a:t>time step</a:t>
            </a:r>
            <a:r>
              <a:rPr lang="ko-KR" altLang="en-US" sz="2000" dirty="0"/>
              <a:t>에 대한 시간대 지수의 증가 시퀀스</a:t>
            </a:r>
            <a:endParaRPr lang="en-US" altLang="ko-KR" sz="2000" dirty="0"/>
          </a:p>
          <a:p>
            <a:pPr marL="1885950" lvl="4" indent="-285750">
              <a:buFont typeface="Wingdings" panose="05000000000000000000" pitchFamily="2" charset="2"/>
              <a:buChar char="§"/>
            </a:pPr>
            <a:r>
              <a:rPr lang="en-US" altLang="ko-KR" dirty="0"/>
              <a:t>      (1 ~ 48)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D</a:t>
            </a:r>
            <a:r>
              <a:rPr lang="en-US" altLang="ko-KR" sz="2000" dirty="0"/>
              <a:t> : </a:t>
            </a:r>
            <a:r>
              <a:rPr lang="ko-KR" altLang="en-US" sz="2000" dirty="0"/>
              <a:t>과거 </a:t>
            </a:r>
            <a:r>
              <a:rPr lang="en-US" altLang="ko-KR" sz="2000" dirty="0"/>
              <a:t>K</a:t>
            </a:r>
            <a:r>
              <a:rPr lang="ko-KR" altLang="en-US" sz="2000" dirty="0"/>
              <a:t>개의 </a:t>
            </a:r>
            <a:r>
              <a:rPr lang="en-US" altLang="ko-KR" sz="2000" dirty="0"/>
              <a:t>time step</a:t>
            </a:r>
            <a:r>
              <a:rPr lang="ko-KR" altLang="en-US" sz="2000" dirty="0"/>
              <a:t>에 대한 해당 요일 지수 </a:t>
            </a:r>
            <a:r>
              <a:rPr lang="en-US" altLang="ko-KR" sz="2000" dirty="0"/>
              <a:t>(0 ~ 6)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b="1" dirty="0"/>
              <a:t>H</a:t>
            </a:r>
            <a:r>
              <a:rPr lang="en-US" altLang="ko-KR" sz="2000" dirty="0"/>
              <a:t> : </a:t>
            </a:r>
            <a:r>
              <a:rPr lang="ko-KR" altLang="en-US" sz="2000" dirty="0"/>
              <a:t>과거 </a:t>
            </a:r>
            <a:r>
              <a:rPr lang="en-US" altLang="ko-KR" sz="2000" dirty="0"/>
              <a:t>K</a:t>
            </a:r>
            <a:r>
              <a:rPr lang="ko-KR" altLang="en-US" sz="2000" dirty="0"/>
              <a:t>개의 </a:t>
            </a:r>
            <a:r>
              <a:rPr lang="en-US" altLang="ko-KR" sz="2000" dirty="0"/>
              <a:t>time step </a:t>
            </a:r>
            <a:r>
              <a:rPr lang="ko-KR" altLang="en-US" sz="2000" dirty="0"/>
              <a:t>에 대한 해당 공휴일 여부 </a:t>
            </a:r>
            <a:r>
              <a:rPr lang="en-US" altLang="ko-KR" sz="2000" dirty="0"/>
              <a:t>(0 or</a:t>
            </a:r>
            <a:r>
              <a:rPr lang="ko-KR" altLang="en-US" sz="2000" dirty="0"/>
              <a:t> </a:t>
            </a:r>
            <a:r>
              <a:rPr lang="en-US" altLang="ko-KR" sz="2000" dirty="0"/>
              <a:t>1)</a:t>
            </a:r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9D17C7A0-F4A7-0FA0-E946-8F1AD365A74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3939" y="2768977"/>
            <a:ext cx="3894117" cy="652707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F07DD5BE-236C-C36C-F603-D624E7C5C7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8171" y="3782500"/>
            <a:ext cx="1005235" cy="36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55072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1FE25B-B62C-54DC-CD18-CEF0F5D7C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FD6EED-CAB3-8CF3-5E1A-EF68F3074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75928CA-3479-E897-85D1-CE723C8367B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463039"/>
            <a:ext cx="6466664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데이터 정규화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은 </a:t>
            </a:r>
            <a:r>
              <a:rPr lang="en-US" altLang="ko-KR" sz="2000" dirty="0"/>
              <a:t>data scale</a:t>
            </a:r>
            <a:r>
              <a:rPr lang="ko-KR" altLang="en-US" sz="2000" dirty="0"/>
              <a:t>에 민감 </a:t>
            </a:r>
            <a:r>
              <a:rPr lang="en-US" altLang="ko-KR" sz="2000" dirty="0"/>
              <a:t>-&gt; (0,1) </a:t>
            </a:r>
            <a:r>
              <a:rPr lang="ko-KR" altLang="en-US" sz="2000" dirty="0"/>
              <a:t>범위로 정규화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 -&gt; min-max </a:t>
            </a:r>
            <a:r>
              <a:rPr lang="ko-KR" altLang="en-US" sz="2000" dirty="0"/>
              <a:t>정규화 적용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I, D, H -&gt; one hot encoding </a:t>
            </a:r>
            <a:r>
              <a:rPr lang="ko-KR" altLang="en-US" sz="2000" dirty="0"/>
              <a:t>적용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Matrix X 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lvl="1" indent="0">
              <a:buNone/>
            </a:pPr>
            <a:br>
              <a:rPr lang="en-US" altLang="ko-KR" sz="2000" dirty="0"/>
            </a:br>
            <a:endParaRPr lang="en-US" altLang="ko-KR" sz="2000" dirty="0"/>
          </a:p>
        </p:txBody>
      </p:sp>
      <p:pic>
        <p:nvPicPr>
          <p:cNvPr id="5" name="그림 4" descr="텍스트, 스크린샷, 평행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C0996EA8-5730-A360-2D8C-0CF908C7A1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793" y="1149274"/>
            <a:ext cx="4060251" cy="5580823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5C32E994-3F3B-A5C9-1FF6-381DC79F8B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635" y="4478299"/>
            <a:ext cx="2476846" cy="543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6680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26D62-ECF2-EF19-2289-94CFAF23B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 descr="텍스트, 스크린샷, 평행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A025979-9944-E01C-55BA-67AAE0DD44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4793" y="1149274"/>
            <a:ext cx="4060251" cy="5580823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A78F8FC6-CE99-8EBB-D2BA-0498A21816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FORECASTING</a:t>
            </a:r>
            <a:r>
              <a:rPr lang="ko-KR" altLang="en-US" dirty="0"/>
              <a:t> </a:t>
            </a:r>
            <a:r>
              <a:rPr lang="en-US" altLang="ko-KR" dirty="0"/>
              <a:t>FRAMEWORK BASED ON LSTM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18A162D-22ED-1A37-7691-E008AE36CBD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499" y="1259839"/>
            <a:ext cx="7959272" cy="4964351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LSTM Based Forecasting Framework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Input</a:t>
            </a:r>
            <a:r>
              <a:rPr lang="ko-KR" altLang="en-US" sz="2000" dirty="0"/>
              <a:t> </a:t>
            </a:r>
            <a:r>
              <a:rPr lang="en-US" altLang="ko-KR" sz="2000" dirty="0"/>
              <a:t>Matrix X</a:t>
            </a:r>
            <a:r>
              <a:rPr lang="ko-KR" altLang="en-US" sz="2000" dirty="0"/>
              <a:t>의 각 </a:t>
            </a:r>
            <a:r>
              <a:rPr lang="en-US" altLang="ko-KR" sz="2000" dirty="0"/>
              <a:t>row -&gt; </a:t>
            </a:r>
            <a:r>
              <a:rPr lang="ko-KR" altLang="en-US" sz="2000" dirty="0"/>
              <a:t>상응하는 </a:t>
            </a:r>
            <a:r>
              <a:rPr lang="en-US" altLang="ko-KR" sz="2000" dirty="0"/>
              <a:t>LSTM block</a:t>
            </a:r>
            <a:r>
              <a:rPr lang="ko-KR" altLang="en-US" sz="2000" dirty="0"/>
              <a:t>에 입력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LSTM layer output</a:t>
            </a:r>
            <a:r>
              <a:rPr lang="ko-KR" altLang="en-US" sz="2000" dirty="0"/>
              <a:t>은 순차적인 특성을 가짐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여러 개수의 </a:t>
            </a:r>
            <a:r>
              <a:rPr lang="en-US" altLang="ko-KR" sz="2000" dirty="0"/>
              <a:t>LSTM layer</a:t>
            </a:r>
            <a:r>
              <a:rPr lang="ko-KR" altLang="en-US" sz="2000" dirty="0"/>
              <a:t>을 쌓아 딥러닝 네트워크 구성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최상위 </a:t>
            </a:r>
            <a:r>
              <a:rPr lang="en-US" altLang="ko-KR" sz="2000" dirty="0"/>
              <a:t>LSTM layer output -&gt; </a:t>
            </a:r>
            <a:r>
              <a:rPr lang="ko-KR" altLang="en-US" sz="2000" dirty="0"/>
              <a:t>일반적인 </a:t>
            </a:r>
            <a:r>
              <a:rPr lang="en-US" altLang="ko-KR" sz="2000" dirty="0"/>
              <a:t>feed forward </a:t>
            </a:r>
            <a:r>
              <a:rPr lang="ko-KR" altLang="en-US" sz="2000" dirty="0"/>
              <a:t>신경망에 전달</a:t>
            </a:r>
            <a:endParaRPr lang="en-US" altLang="ko-KR" sz="2000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Output -&gt; </a:t>
            </a:r>
            <a:r>
              <a:rPr lang="ko-KR" altLang="en-US" sz="2000" dirty="0"/>
              <a:t>목표 시간 간격의 에너지 소비 </a:t>
            </a:r>
            <a:r>
              <a:rPr lang="ko-KR" altLang="en-US" sz="2000" dirty="0" err="1"/>
              <a:t>예측값</a:t>
            </a:r>
            <a:r>
              <a:rPr lang="ko-KR" altLang="en-US" sz="2000" dirty="0"/>
              <a:t> </a:t>
            </a:r>
            <a:r>
              <a:rPr lang="en-US" altLang="ko-KR" sz="2000" dirty="0"/>
              <a:t>(</a:t>
            </a:r>
            <a:r>
              <a:rPr lang="ko-KR" altLang="en-US" sz="2000" dirty="0" err="1"/>
              <a:t>단일값</a:t>
            </a:r>
            <a:r>
              <a:rPr lang="en-US" altLang="ko-KR" sz="2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0098233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2B6C43-4C78-623E-B8A7-2221978A69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THE BENCHMARKS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FC81953-88AB-7AC0-0614-5BFC8EC9316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11210543" cy="4964351"/>
          </a:xfrm>
        </p:spPr>
        <p:txBody>
          <a:bodyPr>
            <a:normAutofit fontScale="85000"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dirty="0"/>
              <a:t>단일 사용자의 전력 소비는 변동성이 매우 큼 </a:t>
            </a:r>
            <a:r>
              <a:rPr lang="en-US" altLang="ko-KR" sz="2400" dirty="0"/>
              <a:t>-&gt; </a:t>
            </a:r>
            <a:r>
              <a:rPr lang="ko-KR" altLang="en-US" sz="2400" dirty="0"/>
              <a:t>예측 정확도가 낮은 경우가 많음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2400" dirty="0"/>
              <a:t>몇 가지 </a:t>
            </a:r>
            <a:r>
              <a:rPr lang="ko-KR" altLang="en-US" sz="2400" dirty="0" err="1"/>
              <a:t>머신러닝</a:t>
            </a:r>
            <a:r>
              <a:rPr lang="ko-KR" altLang="en-US" sz="2400" dirty="0"/>
              <a:t> 기법과 일부 경험적 방법도 함께 분석하여 벤치마크 적용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Empirical mean predictor – </a:t>
            </a:r>
            <a:r>
              <a:rPr lang="ko-KR" altLang="en-US" sz="2400" dirty="0"/>
              <a:t>과거 데이터의 평균값을 계산하여 이를 </a:t>
            </a:r>
            <a:r>
              <a:rPr lang="ko-KR" altLang="en-US" sz="2400" dirty="0" err="1"/>
              <a:t>예측값으로</a:t>
            </a:r>
            <a:r>
              <a:rPr lang="ko-KR" altLang="en-US" sz="2400" dirty="0"/>
              <a:t> 사용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Empirical MAPE </a:t>
            </a:r>
            <a:r>
              <a:rPr lang="en-US" altLang="ko-KR" sz="2400" dirty="0" err="1"/>
              <a:t>Minimisation</a:t>
            </a:r>
            <a:r>
              <a:rPr lang="en-US" altLang="ko-KR" sz="2400" dirty="0"/>
              <a:t> predictor – MAPE</a:t>
            </a:r>
            <a:r>
              <a:rPr lang="ko-KR" altLang="en-US" sz="2400" dirty="0"/>
              <a:t>를 최소화하도록 학습된 모델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BPNN-D – </a:t>
            </a:r>
            <a:r>
              <a:rPr lang="ko-KR" altLang="en-US" sz="2400" dirty="0" err="1"/>
              <a:t>역전파</a:t>
            </a:r>
            <a:r>
              <a:rPr lang="ko-KR" altLang="en-US" sz="2400" dirty="0"/>
              <a:t> 신경망을 활용한 모델</a:t>
            </a:r>
            <a:r>
              <a:rPr lang="en-US" altLang="ko-KR" sz="2400" dirty="0"/>
              <a:t>, </a:t>
            </a:r>
            <a:r>
              <a:rPr lang="ko-KR" altLang="en-US" sz="2400" dirty="0"/>
              <a:t>과거 </a:t>
            </a:r>
            <a:r>
              <a:rPr lang="en-US" altLang="ko-KR" sz="2400" dirty="0"/>
              <a:t>D</a:t>
            </a:r>
            <a:r>
              <a:rPr lang="ko-KR" altLang="en-US" sz="2400" dirty="0"/>
              <a:t>요일 동안의 에너지 소비량 특성 하나만 적용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BPNN-T – </a:t>
            </a:r>
            <a:r>
              <a:rPr lang="ko-KR" altLang="en-US" sz="2400" dirty="0" err="1"/>
              <a:t>역전파</a:t>
            </a:r>
            <a:r>
              <a:rPr lang="ko-KR" altLang="en-US" sz="2400" dirty="0"/>
              <a:t> 신경망을 활용한 모델</a:t>
            </a:r>
            <a:r>
              <a:rPr lang="en-US" altLang="ko-KR" sz="2400" dirty="0"/>
              <a:t>, </a:t>
            </a:r>
            <a:r>
              <a:rPr lang="ko-KR" altLang="en-US" sz="2400" dirty="0"/>
              <a:t>과거 </a:t>
            </a:r>
            <a:r>
              <a:rPr lang="en-US" altLang="ko-KR" sz="2400" dirty="0"/>
              <a:t>K</a:t>
            </a:r>
            <a:r>
              <a:rPr lang="ko-KR" altLang="en-US" sz="2400" dirty="0"/>
              <a:t>개의 </a:t>
            </a:r>
            <a:r>
              <a:rPr lang="en-US" altLang="ko-KR" sz="2400" dirty="0"/>
              <a:t>time step</a:t>
            </a:r>
            <a:r>
              <a:rPr lang="ko-KR" altLang="en-US" sz="2400" dirty="0"/>
              <a:t>의 에너지 소비량 참고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KNN – </a:t>
            </a:r>
            <a:r>
              <a:rPr lang="ko-KR" altLang="en-US" sz="2400" dirty="0"/>
              <a:t>과거 유사한 </a:t>
            </a:r>
            <a:r>
              <a:rPr lang="en-US" altLang="ko-KR" sz="2400" dirty="0"/>
              <a:t>K</a:t>
            </a:r>
            <a:r>
              <a:rPr lang="ko-KR" altLang="en-US" sz="2400" dirty="0"/>
              <a:t>개의 데이터 포인트를 참고하여 예측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ELM – </a:t>
            </a:r>
            <a:r>
              <a:rPr lang="ko-KR" altLang="en-US" sz="2400" dirty="0" err="1"/>
              <a:t>은닉층</a:t>
            </a:r>
            <a:r>
              <a:rPr lang="ko-KR" altLang="en-US" sz="2400" dirty="0"/>
              <a:t> 가중치를 랜덤 초기화하여 빠른 학습이 가능한 신경망 기반 모델</a:t>
            </a: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IS-HF – </a:t>
            </a:r>
            <a:r>
              <a:rPr lang="ko-KR" altLang="en-US" sz="2400" dirty="0"/>
              <a:t>중요도 샘플링 기법을 활용한 하이브리드 예측 모델</a:t>
            </a:r>
            <a:r>
              <a:rPr lang="en-US" altLang="ko-KR" sz="2400" dirty="0"/>
              <a:t>, </a:t>
            </a:r>
            <a:r>
              <a:rPr lang="ko-KR" altLang="en-US" sz="2400" dirty="0"/>
              <a:t>데이터 특성에 맞게 학습 강화</a:t>
            </a:r>
            <a:endParaRPr lang="en-US" altLang="ko-KR" sz="2400" dirty="0"/>
          </a:p>
          <a:p>
            <a:pPr lvl="1" indent="0">
              <a:buNone/>
            </a:pPr>
            <a:endParaRPr lang="en-US" altLang="ko-KR" sz="2400" dirty="0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altLang="ko-KR" sz="2400" dirty="0"/>
          </a:p>
        </p:txBody>
      </p:sp>
    </p:spTree>
    <p:extLst>
      <p:ext uri="{BB962C8B-B14F-4D97-AF65-F5344CB8AC3E}">
        <p14:creationId xmlns:p14="http://schemas.microsoft.com/office/powerpoint/2010/main" val="192932027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52E2BA-54F3-7E8D-5809-3916856BBE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E239CD-5E89-95AB-985B-E91B8E9394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22D54560-950F-BE65-0E64-D516C6926DA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4164" y="1394636"/>
            <a:ext cx="11080880" cy="5165652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altLang="ko-KR" sz="2600" b="1" dirty="0"/>
              <a:t>Test Data settings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기간 </a:t>
            </a:r>
            <a:r>
              <a:rPr lang="en-US" altLang="ko-KR" sz="2000" dirty="0"/>
              <a:t> - 3</a:t>
            </a:r>
            <a:r>
              <a:rPr lang="ko-KR" altLang="en-US" sz="2000" dirty="0"/>
              <a:t>달 </a:t>
            </a:r>
            <a:r>
              <a:rPr lang="en-US" altLang="ko-KR" sz="2000" dirty="0"/>
              <a:t>(2013/06/01 ~ 2013/08/31)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호주 </a:t>
            </a:r>
            <a:r>
              <a:rPr lang="en-US" altLang="ko-KR" sz="2000" dirty="0"/>
              <a:t>New south </a:t>
            </a:r>
            <a:r>
              <a:rPr lang="en-US" altLang="ko-KR" sz="2000" dirty="0" err="1"/>
              <a:t>walse</a:t>
            </a:r>
            <a:r>
              <a:rPr lang="en-US" altLang="ko-KR" sz="2000" dirty="0"/>
              <a:t> </a:t>
            </a:r>
            <a:r>
              <a:rPr lang="ko-KR" altLang="en-US" sz="2000" dirty="0"/>
              <a:t>겨울 시즌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30</a:t>
            </a:r>
            <a:r>
              <a:rPr lang="ko-KR" altLang="en-US" sz="2000" dirty="0"/>
              <a:t>분 간격으로 측정 </a:t>
            </a:r>
            <a:r>
              <a:rPr lang="en-US" altLang="ko-KR" sz="2000" dirty="0"/>
              <a:t>(total 29,808 time points)</a:t>
            </a:r>
            <a:endParaRPr lang="en-US" altLang="ko-KR" sz="2000" b="1" dirty="0"/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Dataset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training set(2013/06/01 ~ 2013/07/05) → 0.7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validating set(2013/07/06 ~ 2013/08/22) → 0.2</a:t>
            </a:r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en-US" altLang="ko-KR" sz="2400" dirty="0"/>
              <a:t>testing set(2013/08/23 ~ 2013/08/31) → 0.1</a:t>
            </a:r>
          </a:p>
          <a:p>
            <a:pPr marL="569214" lvl="1" indent="-285750">
              <a:buFont typeface="Wingdings" panose="05000000000000000000" pitchFamily="2" charset="2"/>
              <a:buChar char="§"/>
            </a:pPr>
            <a:r>
              <a:rPr lang="en-US" altLang="ko-KR" sz="2000" dirty="0"/>
              <a:t>Empirical approaches</a:t>
            </a:r>
            <a:r>
              <a:rPr lang="ko-KR" altLang="en-US" sz="2000" dirty="0"/>
              <a:t> </a:t>
            </a:r>
            <a:endParaRPr lang="en-US" altLang="ko-KR" sz="2000" dirty="0"/>
          </a:p>
          <a:p>
            <a:pPr marL="971550" lvl="2" indent="-285750">
              <a:buFont typeface="Wingdings" panose="05000000000000000000" pitchFamily="2" charset="2"/>
              <a:buChar char="§"/>
            </a:pPr>
            <a:r>
              <a:rPr lang="ko-KR" altLang="en-US" sz="2000" dirty="0"/>
              <a:t>각 유저의 통계를 뽑기 위해 </a:t>
            </a:r>
            <a:r>
              <a:rPr lang="en-US" altLang="ko-KR" sz="2000" dirty="0"/>
              <a:t>training set + validating set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965002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A3C98-F4BC-2637-0BDF-8EE340AA51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E0D1E08-3BBF-2953-D110-B403D6E7F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A39C0FB8-4768-F4ED-1EE6-6B8FCF0018C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4500" y="1463039"/>
            <a:ext cx="5970814" cy="516999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Hyper-Parameter setting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LSTM, BPNN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2</a:t>
            </a:r>
            <a:r>
              <a:rPr lang="ko-KR" altLang="en-US" dirty="0"/>
              <a:t>개의 </a:t>
            </a:r>
            <a:r>
              <a:rPr lang="en-US" altLang="ko-KR" dirty="0"/>
              <a:t>hidden layer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각 </a:t>
            </a:r>
            <a:r>
              <a:rPr lang="en-US" altLang="ko-KR" dirty="0"/>
              <a:t>layer</a:t>
            </a:r>
            <a:r>
              <a:rPr lang="ko-KR" altLang="en-US" dirty="0"/>
              <a:t>에 </a:t>
            </a:r>
            <a:r>
              <a:rPr lang="en-US" altLang="ko-KR" dirty="0"/>
              <a:t>20</a:t>
            </a:r>
            <a:r>
              <a:rPr lang="ko-KR" altLang="en-US" dirty="0"/>
              <a:t>개의 </a:t>
            </a:r>
            <a:r>
              <a:rPr lang="en-US" altLang="ko-KR" dirty="0"/>
              <a:t>hidden node </a:t>
            </a:r>
            <a:r>
              <a:rPr lang="ko-KR" altLang="en-US" dirty="0"/>
              <a:t>연결</a:t>
            </a:r>
            <a:endParaRPr lang="en-US" altLang="ko-KR" b="1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KNN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 err="1"/>
              <a:t>Neighbours</a:t>
            </a:r>
            <a:r>
              <a:rPr lang="en-US" altLang="ko-KR" dirty="0"/>
              <a:t>  = 20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Uniform weight </a:t>
            </a:r>
            <a:r>
              <a:rPr lang="ko-KR" altLang="en-US" dirty="0"/>
              <a:t>방식 사용</a:t>
            </a:r>
            <a:endParaRPr lang="en-US" altLang="ko-KR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ELM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단일 계층 구조</a:t>
            </a:r>
            <a:r>
              <a:rPr lang="en-US" altLang="ko-KR" dirty="0"/>
              <a:t>, </a:t>
            </a:r>
            <a:r>
              <a:rPr lang="ko-KR" altLang="en-US" dirty="0"/>
              <a:t>초기 가중치 무작위 설정</a:t>
            </a:r>
            <a:endParaRPr lang="en-US" altLang="ko-KR" dirty="0"/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Epoch </a:t>
            </a:r>
            <a:r>
              <a:rPr lang="ko-KR" altLang="en-US" dirty="0"/>
              <a:t>개념이 존재하지 않으므로 학습을 </a:t>
            </a:r>
            <a:r>
              <a:rPr lang="en-US" altLang="ko-KR" dirty="0"/>
              <a:t>150</a:t>
            </a:r>
            <a:r>
              <a:rPr lang="ko-KR" altLang="en-US" dirty="0"/>
              <a:t>회 반복</a:t>
            </a:r>
            <a:endParaRPr lang="en-US" altLang="ko-KR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IS-HF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1</a:t>
            </a:r>
            <a:r>
              <a:rPr lang="ko-KR" altLang="en-US" dirty="0"/>
              <a:t>개의 </a:t>
            </a:r>
            <a:r>
              <a:rPr lang="en-US" altLang="ko-KR" dirty="0"/>
              <a:t>hidden layer (6</a:t>
            </a:r>
            <a:r>
              <a:rPr lang="ko-KR" altLang="en-US" dirty="0"/>
              <a:t>개의 뉴런</a:t>
            </a:r>
            <a:r>
              <a:rPr lang="en-US" altLang="ko-KR" dirty="0"/>
              <a:t>)</a:t>
            </a:r>
            <a:br>
              <a:rPr lang="en-US" altLang="ko-KR" dirty="0"/>
            </a:br>
            <a:r>
              <a:rPr lang="en-US" altLang="ko-KR" dirty="0"/>
              <a:t> </a:t>
            </a:r>
          </a:p>
        </p:txBody>
      </p:sp>
      <p:pic>
        <p:nvPicPr>
          <p:cNvPr id="4" name="그림 3" descr="텍스트, 폰트, 번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EC44AB2-45E6-902C-14B0-503CEE9817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690" y="2757697"/>
            <a:ext cx="5330952" cy="201243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67881945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C811A2-D454-1A71-D7DC-BCD1420F97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DC95139-DE1F-F786-164D-94289BE1D9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pic>
        <p:nvPicPr>
          <p:cNvPr id="7" name="그림 6" descr="텍스트, 번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03833E2-8EFD-5F1A-5159-92E138CAD2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49" y="1463040"/>
            <a:ext cx="4961453" cy="4601748"/>
          </a:xfrm>
          <a:prstGeom prst="rect">
            <a:avLst/>
          </a:prstGeom>
          <a:noFill/>
        </p:spPr>
      </p:pic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D95E8670-4AA1-4F74-778B-D72EC34C691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684229" y="1327070"/>
            <a:ext cx="6159427" cy="5169990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Performance for Individual Households (2nd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column)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Avg. MAPE 50% </a:t>
            </a:r>
            <a:r>
              <a:rPr lang="ko-KR" altLang="en-US" dirty="0"/>
              <a:t>이하</a:t>
            </a:r>
            <a:endParaRPr lang="en-US" altLang="ko-KR" dirty="0"/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LSTM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Empirical MAPE minimization predictor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BPNN-T</a:t>
            </a:r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Avg. MAPE 100% </a:t>
            </a:r>
            <a:r>
              <a:rPr lang="ko-KR" altLang="en-US" dirty="0"/>
              <a:t>이하</a:t>
            </a:r>
            <a:endParaRPr lang="en-US" altLang="ko-KR" dirty="0"/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KNN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BPNN-D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IS-HF</a:t>
            </a:r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그 이상</a:t>
            </a:r>
            <a:endParaRPr lang="en-US" altLang="ko-KR" dirty="0"/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ELM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Empirical mean predictor</a:t>
            </a:r>
            <a:br>
              <a:rPr lang="en-US" altLang="ko-KR" dirty="0"/>
            </a:br>
            <a:r>
              <a:rPr lang="en-US" altLang="ko-KR" dirty="0"/>
              <a:t> 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6E24EBD-70B1-F725-0888-9176390C3716}"/>
              </a:ext>
            </a:extLst>
          </p:cNvPr>
          <p:cNvSpPr/>
          <p:nvPr/>
        </p:nvSpPr>
        <p:spPr>
          <a:xfrm>
            <a:off x="2365829" y="2133599"/>
            <a:ext cx="1016000" cy="3846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8008182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BEBEA-5B93-19AA-2944-B7464F50DC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34CED8B-E319-C679-40D2-8515AA547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pic>
        <p:nvPicPr>
          <p:cNvPr id="4" name="그림 3" descr="텍스트, 스크린샷, 폰트, 라인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16ABF09-4F29-21B3-EBA8-0AB48578EB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8937" y="1463040"/>
            <a:ext cx="7701669" cy="46017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36442342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09F325-A403-8D48-888C-C90E18A79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텍스트, 번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1B06C8B9-F49B-6B7E-F1C8-F4443C4004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49" y="1463040"/>
            <a:ext cx="4961453" cy="4601748"/>
          </a:xfrm>
          <a:prstGeom prst="rect">
            <a:avLst/>
          </a:prstGeom>
          <a:noFill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3D336AA-3ABD-071E-0508-9DEF4C278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EA3E9938-2180-BE2C-2D15-E4BC93802BD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0703" y="1919972"/>
            <a:ext cx="6325526" cy="414481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/>
              <a:t>Performance for Aggregated forecasts</a:t>
            </a:r>
            <a:br>
              <a:rPr lang="en-US" altLang="ko-KR" sz="2400" b="1" dirty="0"/>
            </a:br>
            <a:r>
              <a:rPr lang="en-US" altLang="ko-KR" sz="2400" b="1" dirty="0"/>
              <a:t>(3rd</a:t>
            </a:r>
            <a:r>
              <a:rPr lang="ko-KR" altLang="en-US" sz="2400" b="1" dirty="0"/>
              <a:t> </a:t>
            </a:r>
            <a:r>
              <a:rPr lang="en-US" altLang="ko-KR" sz="2400" b="1" dirty="0"/>
              <a:t>column)</a:t>
            </a:r>
            <a:endParaRPr lang="en-US" altLang="ko-KR" sz="24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각 개인의 예측을 집계한 것을 실제 집계된 부하와 비교 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과 </a:t>
            </a:r>
            <a:r>
              <a:rPr lang="en-US" altLang="ko-KR" sz="2000" dirty="0"/>
              <a:t>BPNN-T</a:t>
            </a:r>
            <a:r>
              <a:rPr lang="ko-KR" altLang="en-US" sz="2000" dirty="0"/>
              <a:t> 낮은 </a:t>
            </a:r>
            <a:r>
              <a:rPr lang="en-US" altLang="ko-KR" sz="2000" dirty="0"/>
              <a:t>MAPE</a:t>
            </a:r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기존 연구에서 사용된 모델 </a:t>
            </a:r>
            <a:r>
              <a:rPr lang="en-US" altLang="ko-KR" sz="2000" dirty="0"/>
              <a:t>-&gt; </a:t>
            </a:r>
            <a:r>
              <a:rPr lang="ko-KR" altLang="en-US" sz="2000" dirty="0"/>
              <a:t>약 </a:t>
            </a:r>
            <a:r>
              <a:rPr lang="en-US" altLang="ko-KR" sz="2000" dirty="0"/>
              <a:t>13% </a:t>
            </a:r>
            <a:r>
              <a:rPr lang="ko-KR" altLang="en-US" sz="2000" dirty="0"/>
              <a:t>수준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MAPE minimization -&gt; </a:t>
            </a:r>
            <a:r>
              <a:rPr lang="ko-KR" altLang="en-US" sz="2000" dirty="0"/>
              <a:t>낮은 성능을 보임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FD15EEBF-D1D1-AD74-AB3E-AEBDAFC08053}"/>
              </a:ext>
            </a:extLst>
          </p:cNvPr>
          <p:cNvSpPr/>
          <p:nvPr/>
        </p:nvSpPr>
        <p:spPr>
          <a:xfrm>
            <a:off x="3381829" y="2133599"/>
            <a:ext cx="1016000" cy="3846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988795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00E83-FA5B-F754-8EB0-9EF6A32350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DDA7CF1B-ED97-AA7D-E99D-8D9B2D9FCC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49" y="1463040"/>
            <a:ext cx="4961453" cy="4601748"/>
          </a:xfrm>
          <a:prstGeom prst="rect">
            <a:avLst/>
          </a:prstGeom>
          <a:noFill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A2A9818-677B-51CF-0A28-3918B6005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3E55D688-6977-5735-B2A3-53C986CAB3D8}"/>
              </a:ext>
            </a:extLst>
          </p:cNvPr>
          <p:cNvSpPr/>
          <p:nvPr/>
        </p:nvSpPr>
        <p:spPr>
          <a:xfrm>
            <a:off x="4412343" y="2133599"/>
            <a:ext cx="1016000" cy="384628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9DC1B28-FDE5-0A25-F1E5-054FD26E675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716127" y="2555106"/>
            <a:ext cx="6159427" cy="2417616"/>
          </a:xfrm>
        </p:spPr>
        <p:txBody>
          <a:bodyPr>
            <a:normAutofit fontScale="92500" lnSpcReduction="10000"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b="1" dirty="0"/>
              <a:t>Performance for forecasting the aggregate</a:t>
            </a:r>
            <a:br>
              <a:rPr lang="en-US" altLang="ko-KR" sz="2000" b="1" dirty="0"/>
            </a:br>
            <a:r>
              <a:rPr lang="en-US" altLang="ko-KR" sz="2000" b="1" dirty="0"/>
              <a:t>(4th</a:t>
            </a:r>
            <a:r>
              <a:rPr lang="ko-KR" altLang="en-US" sz="2000" b="1" dirty="0"/>
              <a:t> </a:t>
            </a:r>
            <a:r>
              <a:rPr lang="en-US" altLang="ko-KR" sz="2000" b="1" dirty="0"/>
              <a:t>column)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총합 부하를 예측</a:t>
            </a:r>
            <a:endParaRPr lang="en-US" altLang="ko-KR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dirty="0"/>
              <a:t>LSTM</a:t>
            </a:r>
            <a:r>
              <a:rPr lang="ko-KR" altLang="en-US" dirty="0"/>
              <a:t>과 </a:t>
            </a:r>
            <a:r>
              <a:rPr lang="en-US" altLang="ko-KR" dirty="0"/>
              <a:t>BPNN-T</a:t>
            </a:r>
            <a:r>
              <a:rPr lang="ko-KR" altLang="en-US" dirty="0"/>
              <a:t> 좋은 성능</a:t>
            </a:r>
            <a:endParaRPr lang="en-US" altLang="ko-KR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dirty="0"/>
              <a:t>에너지 소비의 시간적 관계를 추적하고 학습하는 </a:t>
            </a:r>
            <a:r>
              <a:rPr lang="en-US" altLang="ko-KR" dirty="0"/>
              <a:t>LSTM</a:t>
            </a:r>
          </a:p>
          <a:p>
            <a:pPr lvl="2" indent="0">
              <a:lnSpc>
                <a:spcPct val="120000"/>
              </a:lnSpc>
              <a:buNone/>
            </a:pPr>
            <a:r>
              <a:rPr lang="en-US" altLang="ko-KR" dirty="0"/>
              <a:t>-&gt; </a:t>
            </a:r>
            <a:r>
              <a:rPr lang="ko-KR" altLang="en-US" dirty="0"/>
              <a:t>성능이 높게 나와도 큰 의미는 없음</a:t>
            </a:r>
            <a:br>
              <a:rPr lang="en-US" altLang="ko-KR" dirty="0"/>
            </a:br>
            <a:r>
              <a:rPr lang="en-US" altLang="ko-KR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581448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68F383-8FAF-88FF-26F2-D05512CF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 descr="텍스트, 번호, 폰트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7605DA9A-960F-4656-91C2-3E9BCB35C1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249" y="1463040"/>
            <a:ext cx="4961453" cy="4601748"/>
          </a:xfrm>
          <a:prstGeom prst="rect">
            <a:avLst/>
          </a:prstGeom>
          <a:noFill/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4D06BD11-E519-AC5B-5EE2-07B1020E5D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1F2A0FE-6956-C312-E0F1-AADADF127D3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0702" y="2713184"/>
            <a:ext cx="6325526" cy="4144816"/>
          </a:xfrm>
        </p:spPr>
        <p:txBody>
          <a:bodyPr>
            <a:normAutofit/>
          </a:bodyPr>
          <a:lstStyle/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과 </a:t>
            </a:r>
            <a:r>
              <a:rPr lang="en-US" altLang="ko-KR" sz="2000" dirty="0"/>
              <a:t>BPNN-T</a:t>
            </a:r>
            <a:r>
              <a:rPr lang="ko-KR" altLang="en-US" sz="2000" dirty="0"/>
              <a:t> 두 방법이 </a:t>
            </a:r>
            <a:r>
              <a:rPr lang="en-US" altLang="ko-KR" sz="2000" dirty="0"/>
              <a:t>individual household load forecasting</a:t>
            </a:r>
            <a:r>
              <a:rPr lang="ko-KR" altLang="en-US" sz="2000" dirty="0"/>
              <a:t>에서 가장 우수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은 시간적 관계를 학습하는 능력 덕분에 훨씬 더 나은 성능을 보임</a:t>
            </a:r>
            <a:br>
              <a:rPr lang="en-US" altLang="ko-KR" sz="2000" dirty="0"/>
            </a:br>
            <a:r>
              <a:rPr lang="en-US" altLang="ko-KR" sz="2000" dirty="0"/>
              <a:t>(individual forecasts)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16B0ADC-09BE-7423-B719-25845A8657AF}"/>
              </a:ext>
            </a:extLst>
          </p:cNvPr>
          <p:cNvSpPr/>
          <p:nvPr/>
        </p:nvSpPr>
        <p:spPr>
          <a:xfrm>
            <a:off x="748741" y="4136870"/>
            <a:ext cx="4768770" cy="562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017AC1F-A355-B205-2C3B-E638F681C6E4}"/>
              </a:ext>
            </a:extLst>
          </p:cNvPr>
          <p:cNvSpPr/>
          <p:nvPr/>
        </p:nvSpPr>
        <p:spPr>
          <a:xfrm>
            <a:off x="767974" y="2678459"/>
            <a:ext cx="4768770" cy="562451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7369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A20C6-1A3D-38C0-41D9-E74C60227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83434AD-B73D-0944-9528-92918726B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pic>
        <p:nvPicPr>
          <p:cNvPr id="5" name="그림 4" descr="텍스트, 도표, 스크린샷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B0505EEB-AAF0-29F9-DC19-201D38C9D1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0" y="1898081"/>
            <a:ext cx="5330952" cy="3731665"/>
          </a:xfrm>
          <a:prstGeom prst="rect">
            <a:avLst/>
          </a:prstGeom>
          <a:noFill/>
        </p:spPr>
      </p:pic>
      <p:sp>
        <p:nvSpPr>
          <p:cNvPr id="6" name="내용 개체 틀 2">
            <a:extLst>
              <a:ext uri="{FF2B5EF4-FFF2-40B4-BE49-F238E27FC236}">
                <a16:creationId xmlns:a16="http://schemas.microsoft.com/office/drawing/2014/main" id="{D84AC1D0-4B2F-ED1E-5B90-36E989A8308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590703" y="1919972"/>
            <a:ext cx="6325526" cy="4144816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LSTM</a:t>
            </a:r>
            <a:r>
              <a:rPr lang="ko-KR" altLang="en-US" sz="2400" b="1" dirty="0"/>
              <a:t>과 </a:t>
            </a:r>
            <a:r>
              <a:rPr lang="en-US" altLang="ko-KR" sz="2400" b="1" dirty="0"/>
              <a:t>BPNN-T </a:t>
            </a:r>
            <a:r>
              <a:rPr lang="ko-KR" altLang="en-US" sz="2400" b="1" dirty="0"/>
              <a:t>비교</a:t>
            </a:r>
            <a:endParaRPr lang="en-US" altLang="ko-KR" sz="24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Fig 3</a:t>
            </a:r>
            <a:r>
              <a:rPr lang="ko-KR" altLang="en-US" sz="2000" dirty="0"/>
              <a:t>에서 사용한 </a:t>
            </a:r>
            <a:r>
              <a:rPr lang="en-US" altLang="ko-KR" sz="2000" dirty="0"/>
              <a:t>case</a:t>
            </a:r>
            <a:r>
              <a:rPr lang="ko-KR" altLang="en-US" sz="2000" dirty="0"/>
              <a:t>를 이용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MAPE</a:t>
            </a:r>
            <a:r>
              <a:rPr lang="ko-KR" altLang="en-US" sz="2000" dirty="0"/>
              <a:t>값을 비교</a:t>
            </a:r>
            <a:endParaRPr lang="en-US" altLang="ko-KR" sz="2000" dirty="0"/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  </a:t>
            </a:r>
            <a:r>
              <a:rPr lang="en-US" altLang="ko-KR" sz="2000" dirty="0"/>
              <a:t>-	36.52 %</a:t>
            </a:r>
          </a:p>
          <a:p>
            <a:pPr marL="971550" lvl="2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BPNN-T	-  58.97 %</a:t>
            </a:r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이 더 좋은 성능을 보임</a:t>
            </a:r>
            <a:br>
              <a:rPr lang="en-US" altLang="ko-KR" sz="2000" dirty="0"/>
            </a:br>
            <a:r>
              <a:rPr lang="en-US" altLang="ko-K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7820147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C876A8-B27C-D15A-FC32-5950276924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pic>
        <p:nvPicPr>
          <p:cNvPr id="7" name="그림 6" descr="텍스트, 폰트, 라인, 그래프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2EE532E1-6CAF-0EBC-A9E1-88668EDAE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8871" y="3429000"/>
            <a:ext cx="10601801" cy="2447593"/>
          </a:xfrm>
          <a:prstGeom prst="rect">
            <a:avLst/>
          </a:prstGeom>
        </p:spPr>
      </p:pic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12CA46D3-35B1-B012-755D-8096818144AE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93987" y="1520439"/>
            <a:ext cx="10204026" cy="2329024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400" b="1" dirty="0" err="1"/>
              <a:t>예측값과</a:t>
            </a:r>
            <a:r>
              <a:rPr lang="ko-KR" altLang="en-US" sz="2400" b="1" dirty="0"/>
              <a:t> </a:t>
            </a:r>
            <a:r>
              <a:rPr lang="ko-KR" altLang="en-US" sz="2400" b="1" dirty="0" err="1"/>
              <a:t>실제값</a:t>
            </a:r>
            <a:r>
              <a:rPr lang="ko-KR" altLang="en-US" sz="2400" b="1" dirty="0"/>
              <a:t> 비교</a:t>
            </a:r>
            <a:endParaRPr lang="en-US" altLang="ko-KR" sz="24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LSTM</a:t>
            </a:r>
            <a:r>
              <a:rPr lang="ko-KR" altLang="en-US" sz="2000" dirty="0"/>
              <a:t> </a:t>
            </a:r>
            <a:r>
              <a:rPr lang="en-US" altLang="ko-KR" sz="2000" dirty="0"/>
              <a:t>–&gt;</a:t>
            </a:r>
            <a:r>
              <a:rPr lang="ko-KR" altLang="en-US" sz="2000" dirty="0"/>
              <a:t> 대체로 비슷하게 진행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000" dirty="0"/>
              <a:t>BPNN-T –&gt; peak</a:t>
            </a:r>
            <a:r>
              <a:rPr lang="ko-KR" altLang="en-US" sz="2000" dirty="0"/>
              <a:t>부분에서 실제 값이 이미 지나간 뒤에 </a:t>
            </a:r>
            <a:r>
              <a:rPr lang="en-US" altLang="ko-KR" sz="2000" dirty="0"/>
              <a:t>BPNN-T</a:t>
            </a:r>
            <a:r>
              <a:rPr lang="ko-KR" altLang="en-US" sz="2000" dirty="0"/>
              <a:t>의 </a:t>
            </a:r>
            <a:r>
              <a:rPr lang="en-US" altLang="ko-KR" sz="2000" dirty="0"/>
              <a:t>peak</a:t>
            </a:r>
            <a:r>
              <a:rPr lang="ko-KR" altLang="en-US" sz="2000" dirty="0"/>
              <a:t>부분 형성</a:t>
            </a:r>
            <a:endParaRPr lang="en-US" altLang="ko-KR" sz="2000" dirty="0"/>
          </a:p>
          <a:p>
            <a:pPr lvl="2" indent="0">
              <a:lnSpc>
                <a:spcPct val="120000"/>
              </a:lnSpc>
              <a:buNone/>
            </a:pPr>
            <a:br>
              <a:rPr lang="en-US" altLang="ko-KR" sz="2000" dirty="0"/>
            </a:br>
            <a:r>
              <a:rPr lang="en-US" altLang="ko-KR" sz="20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4630406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31717D-5C02-8CA3-595A-64A0BA144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64A2B0-4A0F-F5F7-FFA7-9531A3E8F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pic>
        <p:nvPicPr>
          <p:cNvPr id="4" name="그림 3" descr="텍스트, 라인, 친필, 스크린샷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F6DEE768-1885-C21B-8F35-A281DED3E3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6717" y="1463040"/>
            <a:ext cx="10226109" cy="4601748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12044033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38535-7E9F-9220-8896-A70C6F6A6D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A9B1AF0-6A0E-09CD-3195-9126222356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430609"/>
            <a:ext cx="11210544" cy="557784"/>
          </a:xfrm>
        </p:spPr>
        <p:txBody>
          <a:bodyPr anchor="t">
            <a:normAutofit/>
          </a:bodyPr>
          <a:lstStyle/>
          <a:p>
            <a:r>
              <a:rPr lang="en-US" altLang="ko-KR" dirty="0"/>
              <a:t>CASE STUDY</a:t>
            </a:r>
            <a:endParaRPr lang="ko-KR" altLang="en-US" dirty="0"/>
          </a:p>
        </p:txBody>
      </p:sp>
      <p:pic>
        <p:nvPicPr>
          <p:cNvPr id="4" name="그림 3" descr="스크린샷, 라인, 텍스트, 도표이(가) 표시된 사진&#10;&#10;AI가 생성한 콘텐츠는 부정확할 수 있습니다.">
            <a:extLst>
              <a:ext uri="{FF2B5EF4-FFF2-40B4-BE49-F238E27FC236}">
                <a16:creationId xmlns:a16="http://schemas.microsoft.com/office/drawing/2014/main" id="{5D0346AF-FCDC-04CF-748D-299F83AFDD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214" y="2333594"/>
            <a:ext cx="5838083" cy="3196349"/>
          </a:xfrm>
          <a:prstGeom prst="rect">
            <a:avLst/>
          </a:prstGeom>
          <a:noFill/>
        </p:spPr>
      </p:pic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0D37C774-7A51-071B-C0C1-95C57928A21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92297" y="1978029"/>
            <a:ext cx="5838083" cy="4449362"/>
          </a:xfrm>
        </p:spPr>
        <p:txBody>
          <a:bodyPr>
            <a:normAutofit/>
          </a:bodyPr>
          <a:lstStyle/>
          <a:p>
            <a:pPr marL="285750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en-US" altLang="ko-KR" sz="2400" b="1" dirty="0"/>
              <a:t>LSTM</a:t>
            </a:r>
            <a:r>
              <a:rPr lang="ko-KR" altLang="en-US" sz="2400" b="1" dirty="0"/>
              <a:t>과 </a:t>
            </a:r>
            <a:r>
              <a:rPr lang="en-US" altLang="ko-KR" sz="2400" b="1" dirty="0"/>
              <a:t>BPNN-T </a:t>
            </a:r>
            <a:r>
              <a:rPr lang="ko-KR" altLang="en-US" sz="2400" b="1" dirty="0"/>
              <a:t>비교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모든 고객에 대해 </a:t>
            </a:r>
            <a:r>
              <a:rPr lang="en-US" altLang="ko-KR" sz="2000" dirty="0"/>
              <a:t>LSTM</a:t>
            </a:r>
            <a:r>
              <a:rPr lang="ko-KR" altLang="en-US" sz="2000" dirty="0"/>
              <a:t>과 </a:t>
            </a:r>
            <a:r>
              <a:rPr lang="en-US" altLang="ko-KR" sz="2000" dirty="0"/>
              <a:t>BPNN-T</a:t>
            </a:r>
            <a:r>
              <a:rPr lang="ko-KR" altLang="en-US" sz="2000" dirty="0"/>
              <a:t> 예측 결과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이상치 수 </a:t>
            </a:r>
            <a:r>
              <a:rPr lang="en-US" altLang="ko-KR" sz="2000" dirty="0"/>
              <a:t>-&gt; </a:t>
            </a:r>
            <a:r>
              <a:rPr lang="ko-KR" altLang="en-US" sz="2000" dirty="0"/>
              <a:t>각 가구의 생활 습관 불일치 정도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두 개의 선형 회귀 곡선이 각 그룹의 결과에 </a:t>
            </a:r>
            <a:br>
              <a:rPr lang="en-US" altLang="ko-KR" sz="2000" dirty="0"/>
            </a:br>
            <a:r>
              <a:rPr lang="ko-KR" altLang="en-US" sz="2000" dirty="0" err="1"/>
              <a:t>맞춰짐</a:t>
            </a:r>
            <a:endParaRPr lang="en-US" altLang="ko-KR" sz="2000" dirty="0"/>
          </a:p>
          <a:p>
            <a:pPr marL="569214" lvl="1" indent="-285750">
              <a:lnSpc>
                <a:spcPct val="12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/>
              <a:t>이상치의 수가 증가할수록 </a:t>
            </a:r>
            <a:r>
              <a:rPr lang="en-US" altLang="ko-KR" sz="2000" dirty="0"/>
              <a:t>MAPE </a:t>
            </a:r>
            <a:r>
              <a:rPr lang="ko-KR" altLang="en-US" sz="2000" dirty="0"/>
              <a:t>증가</a:t>
            </a:r>
            <a:br>
              <a:rPr lang="en-US" altLang="ko-KR" sz="2000" dirty="0"/>
            </a:br>
            <a:r>
              <a:rPr lang="en-US" altLang="ko-KR" sz="2000" dirty="0"/>
              <a:t>(</a:t>
            </a:r>
            <a:r>
              <a:rPr lang="ko-KR" altLang="en-US" sz="2000" dirty="0"/>
              <a:t>예측 난이도 증가</a:t>
            </a:r>
            <a:r>
              <a:rPr lang="en-US" altLang="ko-KR" sz="2000" dirty="0"/>
              <a:t>)</a:t>
            </a:r>
          </a:p>
          <a:p>
            <a:pPr lvl="1" indent="0">
              <a:lnSpc>
                <a:spcPct val="120000"/>
              </a:lnSpc>
              <a:buNone/>
            </a:pPr>
            <a:r>
              <a:rPr lang="en-US" altLang="ko-KR" sz="2000" dirty="0"/>
              <a:t>-&gt; </a:t>
            </a:r>
            <a:r>
              <a:rPr lang="ko-KR" altLang="en-US" sz="2000" dirty="0"/>
              <a:t>이상치의 수가 커질수록 </a:t>
            </a:r>
            <a:r>
              <a:rPr lang="en-US" altLang="ko-KR" sz="2000" dirty="0"/>
              <a:t>LSTM</a:t>
            </a:r>
            <a:r>
              <a:rPr lang="ko-KR" altLang="en-US" sz="2000" dirty="0"/>
              <a:t>의 성능 </a:t>
            </a:r>
            <a:r>
              <a:rPr lang="ko-KR" altLang="en-US" sz="2000" dirty="0" err="1"/>
              <a:t>우위가뚜렷</a:t>
            </a: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41976845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5E3039-C735-8BE8-22FF-E542A68E3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DECD038-3021-727D-2F66-019E90A0E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CONCLUSION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CB37D8E-1059-8C42-2C2C-D994A4F3EFDE}"/>
              </a:ext>
            </a:extLst>
          </p:cNvPr>
          <p:cNvSpPr txBox="1">
            <a:spLocks/>
          </p:cNvSpPr>
          <p:nvPr/>
        </p:nvSpPr>
        <p:spPr>
          <a:xfrm>
            <a:off x="444500" y="1452649"/>
            <a:ext cx="11210543" cy="497474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Tx/>
              <a:buNone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83464" indent="-283464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30000"/>
              </a:lnSpc>
              <a:spcBef>
                <a:spcPts val="0"/>
              </a:spcBef>
              <a:spcAft>
                <a:spcPts val="800"/>
              </a:spcAft>
              <a:buFont typeface="Arial" panose="020B0604020202020204" pitchFamily="34" charset="0"/>
              <a:buChar char="•"/>
              <a:defRPr lang="en-US" sz="1600" kern="1200">
                <a:solidFill>
                  <a:schemeClr val="bg2">
                    <a:lumMod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본 연구는 개별 주거 가구의 단기 부하 예측 문제를 해결하려고 함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개별 가구의 단기 부하 예측은 변동성이 큰 어려움</a:t>
            </a:r>
            <a:endParaRPr lang="en-US" altLang="ko-KR" sz="2000" dirty="0"/>
          </a:p>
          <a:p>
            <a:r>
              <a:rPr lang="en-US" altLang="ko-KR" sz="2000" dirty="0"/>
              <a:t>    -&gt; LSTM </a:t>
            </a:r>
            <a:r>
              <a:rPr lang="ko-KR" altLang="en-US" sz="2000" dirty="0"/>
              <a:t>기반 프레임워크를 통해 개선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개별 부하 예측은 정확도가 낮지만</a:t>
            </a:r>
            <a:r>
              <a:rPr lang="en-US" altLang="ko-KR" sz="2000" dirty="0"/>
              <a:t>, </a:t>
            </a:r>
            <a:r>
              <a:rPr lang="ko-KR" altLang="en-US" sz="2000" dirty="0"/>
              <a:t>집계하면 전체 부하 예측 정확도가 향상됨을 확인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소비 패턴의 불규칙성이 클수록 </a:t>
            </a:r>
            <a:r>
              <a:rPr lang="en-US" altLang="ko-KR" sz="2000" dirty="0"/>
              <a:t>LSTM</a:t>
            </a:r>
            <a:r>
              <a:rPr lang="ko-KR" altLang="en-US" sz="2000" dirty="0"/>
              <a:t>의 성능 우위가 뚜렷하게 나타남</a:t>
            </a:r>
            <a:endParaRPr lang="en-US" altLang="ko-KR" sz="2000" dirty="0"/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ko-KR" altLang="en-US" sz="2000" dirty="0"/>
              <a:t>향후 연구는 </a:t>
            </a:r>
            <a:r>
              <a:rPr lang="ko-KR" altLang="en-US" sz="2000" dirty="0" err="1"/>
              <a:t>하이퍼파라미터</a:t>
            </a:r>
            <a:r>
              <a:rPr lang="ko-KR" altLang="en-US" sz="2000" dirty="0"/>
              <a:t> 최적화를 통해 변동성이 큰 가구의 예측 정확도를 높이는 연구가</a:t>
            </a:r>
            <a:br>
              <a:rPr lang="en-US" altLang="ko-KR" sz="2000" dirty="0"/>
            </a:br>
            <a:r>
              <a:rPr lang="ko-KR" altLang="en-US" sz="2000" dirty="0"/>
              <a:t>필요</a:t>
            </a:r>
            <a:endParaRPr lang="en-US" altLang="ko-KR" sz="2000" dirty="0"/>
          </a:p>
          <a:p>
            <a:endParaRPr lang="en-US" altLang="ko-KR" sz="2000" dirty="0"/>
          </a:p>
          <a:p>
            <a:pPr marL="626364" lvl="1" indent="-342900">
              <a:buFont typeface="Wingdings" panose="05000000000000000000" pitchFamily="2" charset="2"/>
              <a:buChar char="§"/>
            </a:pPr>
            <a:endParaRPr lang="en-US" altLang="ko-KR" sz="2000" dirty="0"/>
          </a:p>
        </p:txBody>
      </p:sp>
    </p:spTree>
    <p:extLst>
      <p:ext uri="{BB962C8B-B14F-4D97-AF65-F5344CB8AC3E}">
        <p14:creationId xmlns:p14="http://schemas.microsoft.com/office/powerpoint/2010/main" val="3366757333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Custom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CF3D1C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기본">
      <a:majorFont>
        <a:latin typeface="Pretendard"/>
        <a:ea typeface="Pretendard"/>
        <a:cs typeface=""/>
      </a:majorFont>
      <a:minorFont>
        <a:latin typeface="Pretendard"/>
        <a:ea typeface="Pretendard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44889724_Win32" id="{A47D2243-58B7-4EA1-AC61-F4DDB07AC155}" vid="{5B84BEAD-BCA6-42F5-9270-6ECA397995E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D0C6F549-03FF-4828-9BD8-8F40C0A2B2B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6FB6FBE4-5ACD-4115-9139-635E82C3D35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7EFEE82-03DD-4F90-81E2-2AF29E1D81FB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연구실 PPT 양식</Template>
  <TotalTime>0</TotalTime>
  <Words>2549</Words>
  <Application>Microsoft Office PowerPoint</Application>
  <PresentationFormat>와이드스크린</PresentationFormat>
  <Paragraphs>393</Paragraphs>
  <Slides>40</Slides>
  <Notes>30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40</vt:i4>
      </vt:variant>
    </vt:vector>
  </HeadingPairs>
  <TitlesOfParts>
    <vt:vector size="45" baseType="lpstr">
      <vt:lpstr>Pretendard</vt:lpstr>
      <vt:lpstr>Arial</vt:lpstr>
      <vt:lpstr>Calibri</vt:lpstr>
      <vt:lpstr>Wingdings</vt:lpstr>
      <vt:lpstr>WelcomeDoc</vt:lpstr>
      <vt:lpstr>Short-Term Residential Load Forecasting Based on LSTM Recurrent Neural Network</vt:lpstr>
      <vt:lpstr>목차</vt:lpstr>
      <vt:lpstr>Abstract</vt:lpstr>
      <vt:lpstr>INTRODUCTION</vt:lpstr>
      <vt:lpstr>INTRODUCTION</vt:lpstr>
      <vt:lpstr>INTRODUCTION</vt:lpstr>
      <vt:lpstr>INTRODUCTION</vt:lpstr>
      <vt:lpstr>LITERATURE STUDY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EXPLORATORY DATA ANALYSIS AND PROBLEM IDENTIFICATION</vt:lpstr>
      <vt:lpstr>THE FORECASTING FRAMEWORK BASED ON LSTM</vt:lpstr>
      <vt:lpstr>THE FORECASTING FRAMEWORK BASED ON LSTM</vt:lpstr>
      <vt:lpstr>THE FORECASTING FRAMEWORK BASED ON LSTM</vt:lpstr>
      <vt:lpstr>THE FORECASTING FRAMEWORK BASED ON LSTM</vt:lpstr>
      <vt:lpstr>THE FORECASTING FRAMEWORK BASED ON LSTM</vt:lpstr>
      <vt:lpstr>THE FORECASTING FRAMEWORK BASED ON LSTM</vt:lpstr>
      <vt:lpstr>THE FORECASTING FRAMEWORK BASED ON LSTM</vt:lpstr>
      <vt:lpstr>THE FORECASTING FRAMEWORK BASED ON LSTM</vt:lpstr>
      <vt:lpstr>THE BENCHMARKS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CASE STUDY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cp:revision>1</cp:revision>
  <dcterms:created xsi:type="dcterms:W3CDTF">2025-02-23T08:46:09Z</dcterms:created>
  <dcterms:modified xsi:type="dcterms:W3CDTF">2025-02-26T16:17:41Z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