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385" r:id="rId5"/>
    <p:sldId id="394" r:id="rId6"/>
    <p:sldId id="395" r:id="rId7"/>
    <p:sldId id="396" r:id="rId8"/>
    <p:sldId id="397" r:id="rId9"/>
    <p:sldId id="401" r:id="rId10"/>
    <p:sldId id="445" r:id="rId11"/>
    <p:sldId id="446" r:id="rId12"/>
    <p:sldId id="451" r:id="rId13"/>
    <p:sldId id="452" r:id="rId14"/>
    <p:sldId id="468" r:id="rId15"/>
    <p:sldId id="447" r:id="rId16"/>
    <p:sldId id="449" r:id="rId17"/>
    <p:sldId id="455" r:id="rId18"/>
    <p:sldId id="448" r:id="rId19"/>
    <p:sldId id="450" r:id="rId20"/>
    <p:sldId id="453" r:id="rId21"/>
    <p:sldId id="454" r:id="rId22"/>
    <p:sldId id="465" r:id="rId23"/>
    <p:sldId id="460" r:id="rId24"/>
    <p:sldId id="466" r:id="rId25"/>
    <p:sldId id="467" r:id="rId26"/>
    <p:sldId id="470" r:id="rId27"/>
    <p:sldId id="4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CE9"/>
    <a:srgbClr val="C40D2D"/>
    <a:srgbClr val="B7472A"/>
    <a:srgbClr val="F5F5F5"/>
    <a:srgbClr val="D24726"/>
    <a:srgbClr val="9FCDB3"/>
    <a:srgbClr val="217346"/>
    <a:srgbClr val="000000"/>
    <a:srgbClr val="D9D9D9"/>
    <a:srgbClr val="F3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1" autoAdjust="0"/>
    <p:restoredTop sz="91334" autoAdjust="0"/>
  </p:normalViewPr>
  <p:slideViewPr>
    <p:cSldViewPr snapToGrid="0">
      <p:cViewPr varScale="1">
        <p:scale>
          <a:sx n="46" d="100"/>
          <a:sy n="46" d="100"/>
        </p:scale>
        <p:origin x="58" y="974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61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21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3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0734-E0D7-D177-6DC8-42D9253C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F7CDF-1580-FC13-54BF-7877555A5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69A056-9235-AD84-117C-806F69F2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A5CC66-77D8-E2AA-5A8E-FDF8FBD0A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D0FF6-1C33-163E-F852-1161CCFA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B95ECC-E063-D821-B747-BF548CF72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5D541D-54DE-564B-A7AD-D8B3E2CDC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CB2F4-6C5B-13F7-3B5B-CF9B61B16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2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943" cy="86201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1C93DC-3804-5A9E-FD3D-DF7BFB2F73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056" y="411733"/>
            <a:ext cx="2057400" cy="667878"/>
          </a:xfrm>
          <a:prstGeom prst="rect">
            <a:avLst/>
          </a:prstGeom>
        </p:spPr>
      </p:pic>
      <p:pic>
        <p:nvPicPr>
          <p:cNvPr id="7" name="그림 6" descr="텍스트, 명함, 스크린샷, 폰트이(가) 표시된 사진&#10;&#10;자동 생성된 설명">
            <a:extLst>
              <a:ext uri="{FF2B5EF4-FFF2-40B4-BE49-F238E27FC236}">
                <a16:creationId xmlns:a16="http://schemas.microsoft.com/office/drawing/2014/main" id="{0D33A431-AD70-EC0C-9BBC-3FED31276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259" t="29237" r="25475" b="58233"/>
          <a:stretch/>
        </p:blipFill>
        <p:spPr>
          <a:xfrm>
            <a:off x="10007723" y="5915974"/>
            <a:ext cx="1796559" cy="48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4500" y="6427391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4/28/2025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042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C40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2">
              <a:lumMod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spcAft>
          <a:spcPts val="800"/>
        </a:spcAft>
        <a:buFontTx/>
        <a:buNone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696" userDrawn="1">
          <p15:clr>
            <a:srgbClr val="F26B43"/>
          </p15:clr>
        </p15:guide>
        <p15:guide id="7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438400"/>
            <a:ext cx="9922447" cy="1027176"/>
          </a:xfrm>
        </p:spPr>
        <p:txBody>
          <a:bodyPr>
            <a:normAutofit fontScale="90000"/>
          </a:bodyPr>
          <a:lstStyle/>
          <a:p>
            <a:r>
              <a:rPr lang="en-US" dirty="0"/>
              <a:t>Attention Is All You Need </a:t>
            </a:r>
            <a:r>
              <a:rPr lang="ko-KR" altLang="en-US" dirty="0"/>
              <a:t>논문 리뷰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31F0C-52BB-6204-5BF6-C4DDD2394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400" dirty="0">
                <a:solidFill>
                  <a:schemeClr val="accent2"/>
                </a:solidFill>
              </a:rPr>
              <a:t>세종대학교 지능기전공학부 박지호</a:t>
            </a:r>
            <a:endParaRPr lang="en-US" altLang="ko-KR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A1ED0-AFC7-9158-1853-EAB84C4E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66169-FD9B-8138-6980-2852768055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저자 소개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연구 배경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Transformer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Decoder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실험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3520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56E0C-9364-F7BD-16CB-81F6EC8B2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저자 소개</a:t>
            </a:r>
          </a:p>
        </p:txBody>
      </p:sp>
      <p:pic>
        <p:nvPicPr>
          <p:cNvPr id="6" name="그림 5" descr="텍스트, 스크린샷, 폰트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F193C9-5701-6443-48A4-51A833D5F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1993694"/>
            <a:ext cx="11210543" cy="42039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976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F4201-214D-82F3-F8C9-BA65B01E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7287FD2-C6C6-F6A9-42E9-40CF20BB13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11210543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기존 모델의 문제점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1700" b="1" dirty="0"/>
              <a:t>RNN/LSTM:</a:t>
            </a:r>
            <a:r>
              <a:rPr lang="ko-KR" altLang="en-US" sz="1700" dirty="0"/>
              <a:t> 순차적 처리 특성 → 병렬화 불가 → 대규모 데이터 학습 시 비효율적</a:t>
            </a:r>
            <a:endParaRPr lang="en-US" altLang="ko-KR" sz="17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1700" b="1" dirty="0"/>
              <a:t>장기 의존성 문제</a:t>
            </a:r>
            <a:r>
              <a:rPr lang="en-US" altLang="ko-KR" sz="1700" b="1" dirty="0"/>
              <a:t>:</a:t>
            </a:r>
            <a:r>
              <a:rPr lang="ko-KR" altLang="en-US" sz="1700" dirty="0"/>
              <a:t> 긴 시퀀스</a:t>
            </a:r>
            <a:r>
              <a:rPr lang="en-US" altLang="ko-KR" sz="1700" dirty="0"/>
              <a:t>(</a:t>
            </a:r>
            <a:r>
              <a:rPr lang="ko-KR" altLang="en-US" sz="1700" dirty="0"/>
              <a:t>예</a:t>
            </a:r>
            <a:r>
              <a:rPr lang="en-US" altLang="ko-KR" sz="1700" dirty="0"/>
              <a:t>: 100</a:t>
            </a:r>
            <a:r>
              <a:rPr lang="ko-KR" altLang="en-US" sz="1700" dirty="0"/>
              <a:t>개 이상 토큰</a:t>
            </a:r>
            <a:r>
              <a:rPr lang="en-US" altLang="ko-KR" sz="1700" dirty="0"/>
              <a:t>)</a:t>
            </a:r>
            <a:r>
              <a:rPr lang="ko-KR" altLang="en-US" sz="1700" dirty="0"/>
              <a:t>에서는 초기 정보 손실 발생</a:t>
            </a:r>
            <a:endParaRPr lang="en-US" altLang="ko-KR" sz="17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1700" b="1" dirty="0"/>
              <a:t>CNN </a:t>
            </a:r>
            <a:r>
              <a:rPr lang="ko-KR" altLang="en-US" sz="1700" b="1" dirty="0"/>
              <a:t>기반 </a:t>
            </a:r>
            <a:r>
              <a:rPr lang="en-US" altLang="ko-KR" sz="1700" b="1" dirty="0"/>
              <a:t>:</a:t>
            </a:r>
            <a:r>
              <a:rPr lang="ko-KR" altLang="en-US" sz="1700" dirty="0"/>
              <a:t> 고정된 커널 크기 → 멀리 떨어진 단어 간 관계 파악에 한계</a:t>
            </a:r>
            <a:endParaRPr lang="en-US" altLang="ko-KR" sz="17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핵심 아이디어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1700" b="1" dirty="0"/>
              <a:t>Transformer</a:t>
            </a:r>
            <a:r>
              <a:rPr lang="en-US" altLang="ko-KR" sz="1700" dirty="0"/>
              <a:t> </a:t>
            </a:r>
            <a:r>
              <a:rPr lang="ko-KR" altLang="en-US" sz="1700" dirty="0"/>
              <a:t>모델 제안</a:t>
            </a:r>
            <a:endParaRPr lang="en-US" altLang="ko-KR" sz="17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1700" dirty="0"/>
              <a:t>Recurrence and convolutions</a:t>
            </a:r>
            <a:r>
              <a:rPr lang="ko-KR" altLang="en-US" sz="1700" dirty="0"/>
              <a:t>이 없는 구조 제안</a:t>
            </a:r>
            <a:endParaRPr lang="en-US" altLang="ko-KR" sz="17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1700" dirty="0"/>
              <a:t>Self-attention</a:t>
            </a:r>
            <a:r>
              <a:rPr lang="ko-KR" altLang="en-US" sz="1700" dirty="0"/>
              <a:t>을 통해 전체 문장을 동시에 분석</a:t>
            </a:r>
            <a:endParaRPr lang="en-US" altLang="ko-KR" sz="17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1700" dirty="0"/>
              <a:t>GPU </a:t>
            </a:r>
            <a:r>
              <a:rPr lang="ko-KR" altLang="en-US" sz="1700" b="1" dirty="0"/>
              <a:t>병렬</a:t>
            </a:r>
            <a:r>
              <a:rPr lang="ko-KR" altLang="en-US" sz="1700" dirty="0"/>
              <a:t> 컴퓨팅 자원을 최대한 활용할 수 있는 구조</a:t>
            </a:r>
          </a:p>
        </p:txBody>
      </p:sp>
    </p:spTree>
    <p:extLst>
      <p:ext uri="{BB962C8B-B14F-4D97-AF65-F5344CB8AC3E}">
        <p14:creationId xmlns:p14="http://schemas.microsoft.com/office/powerpoint/2010/main" val="98402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D237F-50AA-C4B9-4CA9-F6ADDA6C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pic>
        <p:nvPicPr>
          <p:cNvPr id="2054" name="Picture 6" descr="10 Things You Need to Know About BERT and the Transformer ...">
            <a:extLst>
              <a:ext uri="{FF2B5EF4-FFF2-40B4-BE49-F238E27FC236}">
                <a16:creationId xmlns:a16="http://schemas.microsoft.com/office/drawing/2014/main" id="{1B0C7963-D9D4-8EF1-9721-155B65B22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9739" y="1332411"/>
            <a:ext cx="8851212" cy="509497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5262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004D0-770E-ED84-4198-DEE4042E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FF52B69-ED1A-7736-0C61-3B49176FA9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497585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Transformer </a:t>
            </a:r>
            <a:r>
              <a:rPr lang="ko-KR" altLang="en-US" sz="2300" b="1" dirty="0"/>
              <a:t>기본 구조</a:t>
            </a:r>
            <a:endParaRPr lang="en-US" altLang="ko-KR" sz="23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Encoder-Decoder 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Input</a:t>
            </a:r>
            <a:r>
              <a:rPr lang="en-US" altLang="ko-KR" sz="2000" dirty="0"/>
              <a:t> : word Embedding + Positional Encoding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Output</a:t>
            </a:r>
            <a:r>
              <a:rPr lang="en-US" altLang="ko-KR" sz="2000" dirty="0"/>
              <a:t> : auto-regressive decoding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Encoder, Decoder</a:t>
            </a:r>
            <a:r>
              <a:rPr lang="ko-KR" altLang="en-US" sz="2000" dirty="0"/>
              <a:t>에 각각 </a:t>
            </a:r>
            <a:r>
              <a:rPr lang="en-US" altLang="ko-KR" sz="2000" dirty="0"/>
              <a:t>2</a:t>
            </a:r>
            <a:r>
              <a:rPr lang="ko-KR" altLang="en-US" sz="2000" dirty="0"/>
              <a:t>개</a:t>
            </a:r>
            <a:r>
              <a:rPr lang="en-US" altLang="ko-KR" sz="2000" dirty="0"/>
              <a:t>, 3</a:t>
            </a:r>
            <a:r>
              <a:rPr lang="ko-KR" altLang="en-US" sz="2000" dirty="0"/>
              <a:t>개의 서브 레이어로 구성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lvl="1" indent="0">
              <a:buNone/>
            </a:pPr>
            <a:r>
              <a:rPr lang="en-US" altLang="ko-KR" sz="2000" dirty="0"/>
              <a:t>* auto-regressive : </a:t>
            </a:r>
            <a:r>
              <a:rPr lang="ko-KR" altLang="en-US" sz="2000" dirty="0"/>
              <a:t>이전까지 생성한 단어들을 이용하여 다음       </a:t>
            </a:r>
            <a:r>
              <a:rPr lang="en-US" altLang="ko-KR" sz="2000" dirty="0"/>
              <a:t>			       </a:t>
            </a:r>
            <a:r>
              <a:rPr lang="ko-KR" altLang="en-US" sz="2000" dirty="0"/>
              <a:t>단어를 하나씩 순차적으로 예측하는 방식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765616-A9FC-C3A7-B219-2CA829337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16" name="왼쪽 대괄호 15">
            <a:extLst>
              <a:ext uri="{FF2B5EF4-FFF2-40B4-BE49-F238E27FC236}">
                <a16:creationId xmlns:a16="http://schemas.microsoft.com/office/drawing/2014/main" id="{FF58F54A-E086-B469-A2C1-61BEAAB8C31F}"/>
              </a:ext>
            </a:extLst>
          </p:cNvPr>
          <p:cNvSpPr/>
          <p:nvPr/>
        </p:nvSpPr>
        <p:spPr>
          <a:xfrm>
            <a:off x="7807935" y="3576918"/>
            <a:ext cx="160720" cy="995082"/>
          </a:xfrm>
          <a:prstGeom prst="leftBracket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대괄호 16">
            <a:extLst>
              <a:ext uri="{FF2B5EF4-FFF2-40B4-BE49-F238E27FC236}">
                <a16:creationId xmlns:a16="http://schemas.microsoft.com/office/drawing/2014/main" id="{4CFFA8B9-20BA-6D38-4441-7EC773D8B361}"/>
              </a:ext>
            </a:extLst>
          </p:cNvPr>
          <p:cNvSpPr/>
          <p:nvPr/>
        </p:nvSpPr>
        <p:spPr>
          <a:xfrm>
            <a:off x="11053480" y="2841812"/>
            <a:ext cx="160720" cy="1882588"/>
          </a:xfrm>
          <a:prstGeom prst="rightBracket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90460-4167-D032-F3D8-0EF1F52097F8}"/>
              </a:ext>
            </a:extLst>
          </p:cNvPr>
          <p:cNvSpPr txBox="1"/>
          <p:nvPr/>
        </p:nvSpPr>
        <p:spPr>
          <a:xfrm>
            <a:off x="6959461" y="3912876"/>
            <a:ext cx="8929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Sublayer</a:t>
            </a:r>
            <a:endParaRPr lang="ko-KR" alt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57000C-39F4-5620-E81F-024D1D65CC49}"/>
              </a:ext>
            </a:extLst>
          </p:cNvPr>
          <p:cNvSpPr txBox="1"/>
          <p:nvPr/>
        </p:nvSpPr>
        <p:spPr>
          <a:xfrm>
            <a:off x="11195947" y="3621523"/>
            <a:ext cx="8929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Sublayer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07828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1D62-6A4E-0BB2-74EB-3B2D7AB6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AE84B-259A-80D0-FDA4-09F248E0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DFCA2CCF-B2B1-872D-7635-E7BC1F053C1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1" y="1463040"/>
                <a:ext cx="5433786" cy="4601748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altLang="ko-KR" sz="2300" b="1" dirty="0"/>
                  <a:t>Input Embedding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각 단어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토큰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는 정수 인덱스로 변환</a:t>
                </a: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정수 인덱스를 고정 차원의 실수 벡터로 변환</a:t>
                </a:r>
                <a:br>
                  <a:rPr lang="en-US" altLang="ko-KR" sz="2000" dirty="0"/>
                </a:b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altLang="ko-KR" sz="2000" dirty="0"/>
                  <a:t>= 512)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lvl="1" indent="0">
                  <a:buNone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DFCA2CCF-B2B1-872D-7635-E7BC1F053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1" y="1463040"/>
                <a:ext cx="5433786" cy="4601748"/>
              </a:xfrm>
              <a:blipFill>
                <a:blip r:embed="rId2"/>
                <a:stretch>
                  <a:fillRect l="-13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F2B42F86-3E7B-E8F3-5B71-1ADA07E87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25716"/>
            <a:ext cx="5651500" cy="277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67AFD1AE-F7E9-7247-DD9E-A3FDC2784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138" y="4319325"/>
            <a:ext cx="6825638" cy="222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13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3B23-8803-4DBE-4987-22994E7E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54135-95C2-6F0B-CCCD-949F6B11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00D2DB-0F51-A619-E258-808A83CE47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7497585" cy="484153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500" b="1" dirty="0"/>
              <a:t>Positional Encoding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Transformer</a:t>
            </a:r>
            <a:r>
              <a:rPr lang="ko-KR" altLang="en-US" sz="2000" dirty="0"/>
              <a:t>는 모든 단어를 병렬로 처리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단어의 위치를 알 수 없다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B3A41C3-116D-1218-D224-98E190B91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435" y="1678787"/>
            <a:ext cx="6067879" cy="441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42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BFEDA-4CA6-97D9-B3DA-7E5DB2DD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3123553-CEBF-31AE-FC4C-18C0C3F11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3" y="3350294"/>
            <a:ext cx="5890727" cy="13381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D93D1C-08AE-9FDD-4096-2A4B8D59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36696B4-A009-09EA-1F73-454A500E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F5613BD-92FF-3C95-9D09-637ED8CD7E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7497585" cy="484153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500" b="1" dirty="0"/>
              <a:t>Positional Encoding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Transformer</a:t>
            </a:r>
            <a:r>
              <a:rPr lang="ko-KR" altLang="en-US" sz="2000" dirty="0"/>
              <a:t>는 모든 단어를 병렬로 처리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단어의 위치를 알 수 없다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단어의 상대적인 순서</a:t>
            </a:r>
            <a:r>
              <a:rPr lang="en-US" altLang="ko-KR" sz="2000" dirty="0"/>
              <a:t>(</a:t>
            </a:r>
            <a:r>
              <a:rPr lang="ko-KR" altLang="en-US" sz="2000" dirty="0"/>
              <a:t>위치</a:t>
            </a:r>
            <a:r>
              <a:rPr lang="en-US" altLang="ko-KR" sz="2000" dirty="0"/>
              <a:t>) </a:t>
            </a:r>
            <a:r>
              <a:rPr lang="ko-KR" altLang="en-US" sz="2000" dirty="0"/>
              <a:t>정보를 네트워크에 입력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다양한 주기를 가지는 파형을 차원별로 생성 </a:t>
            </a:r>
            <a:r>
              <a:rPr lang="en-US" altLang="ko-KR" sz="2000" dirty="0"/>
              <a:t>(</a:t>
            </a:r>
            <a:r>
              <a:rPr lang="ko-KR" altLang="en-US" sz="2000" dirty="0"/>
              <a:t>주기 함수</a:t>
            </a:r>
            <a:r>
              <a:rPr lang="en-US" altLang="ko-KR" sz="2000" dirty="0"/>
              <a:t>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Embedding </a:t>
            </a:r>
            <a:r>
              <a:rPr lang="ko-KR" altLang="en-US" sz="2000" dirty="0"/>
              <a:t>벡터와 동일한 크기</a:t>
            </a:r>
            <a:br>
              <a:rPr lang="en-US" altLang="ko-KR" sz="2000" dirty="0"/>
            </a:br>
            <a:r>
              <a:rPr lang="en-US" altLang="ko-KR" sz="2000" dirty="0"/>
              <a:t>=&gt; </a:t>
            </a:r>
            <a:r>
              <a:rPr lang="ko-KR" altLang="en-US" sz="2000" dirty="0"/>
              <a:t>합산하여 단어의 위치 정보 부여</a:t>
            </a:r>
            <a:endParaRPr lang="en-US" altLang="ko-KR" sz="2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B18033-19C1-DA28-00EB-9E27B12E7C00}"/>
              </a:ext>
            </a:extLst>
          </p:cNvPr>
          <p:cNvSpPr/>
          <p:nvPr/>
        </p:nvSpPr>
        <p:spPr>
          <a:xfrm>
            <a:off x="7807935" y="4953726"/>
            <a:ext cx="3406265" cy="441234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320E1-C958-A042-938B-FA9380254958}"/>
              </a:ext>
            </a:extLst>
          </p:cNvPr>
          <p:cNvSpPr txBox="1"/>
          <p:nvPr/>
        </p:nvSpPr>
        <p:spPr>
          <a:xfrm>
            <a:off x="5902626" y="3589906"/>
            <a:ext cx="1766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err="1"/>
              <a:t>i</a:t>
            </a:r>
            <a:r>
              <a:rPr lang="en-US" altLang="ko-KR" sz="1500" dirty="0"/>
              <a:t> : </a:t>
            </a:r>
            <a:r>
              <a:rPr lang="ko-KR" altLang="en-US" sz="1500" dirty="0"/>
              <a:t>차원의 인덱스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1536D-1A70-EACF-C352-2B4635F722DF}"/>
              </a:ext>
            </a:extLst>
          </p:cNvPr>
          <p:cNvSpPr txBox="1"/>
          <p:nvPr/>
        </p:nvSpPr>
        <p:spPr>
          <a:xfrm>
            <a:off x="5902626" y="4152683"/>
            <a:ext cx="19751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pos</a:t>
            </a:r>
            <a:r>
              <a:rPr lang="en-US" altLang="ko-KR" sz="1500" dirty="0"/>
              <a:t> : </a:t>
            </a:r>
            <a:r>
              <a:rPr lang="ko-KR" altLang="en-US" sz="1500" dirty="0"/>
              <a:t>단어 위치</a:t>
            </a:r>
          </a:p>
        </p:txBody>
      </p:sp>
    </p:spTree>
    <p:extLst>
      <p:ext uri="{BB962C8B-B14F-4D97-AF65-F5344CB8AC3E}">
        <p14:creationId xmlns:p14="http://schemas.microsoft.com/office/powerpoint/2010/main" val="133907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F3A8-DC42-3246-112B-59FB6A78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5B9A2-3445-C745-EE1D-49A5686D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Self-Attention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211A66B-65F0-DBCA-DE3B-FBF6C3EDA0EA}"/>
              </a:ext>
            </a:extLst>
          </p:cNvPr>
          <p:cNvSpPr txBox="1">
            <a:spLocks/>
          </p:cNvSpPr>
          <p:nvPr/>
        </p:nvSpPr>
        <p:spPr>
          <a:xfrm>
            <a:off x="6096000" y="1351073"/>
            <a:ext cx="5651500" cy="5076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같은 문장 내에서 단어들 간의 의존성 파악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단어 벡터에 서로 다른 가중치 행렬을 곱함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각 가중치 행렬은 훈련 데이터를 통해 최적화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역전파</a:t>
            </a:r>
            <a:r>
              <a:rPr lang="en-US" altLang="ko-KR" sz="2000" dirty="0"/>
              <a:t>, </a:t>
            </a:r>
            <a:r>
              <a:rPr lang="ko-KR" altLang="en-US" sz="2000" dirty="0"/>
              <a:t>경사 </a:t>
            </a:r>
            <a:r>
              <a:rPr lang="ko-KR" altLang="en-US" sz="2000" dirty="0" err="1"/>
              <a:t>하강법</a:t>
            </a:r>
            <a:r>
              <a:rPr lang="en-US" altLang="ko-KR" sz="2000" dirty="0"/>
              <a:t>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Q, K, V -&gt; </a:t>
            </a:r>
            <a:r>
              <a:rPr lang="ko-KR" altLang="en-US" sz="2000" dirty="0"/>
              <a:t>인코더 입력에서 생성</a:t>
            </a:r>
            <a:br>
              <a:rPr lang="en-US" altLang="ko-KR" sz="2000" dirty="0"/>
            </a:br>
            <a:r>
              <a:rPr lang="en-US" altLang="ko-KR" sz="2000" dirty="0"/>
              <a:t>                  (</a:t>
            </a:r>
            <a:r>
              <a:rPr lang="ko-KR" altLang="en-US" sz="2000" dirty="0"/>
              <a:t>동일한 입력 시퀀스</a:t>
            </a:r>
            <a:r>
              <a:rPr lang="en-US" altLang="ko-KR" sz="2000" dirty="0"/>
              <a:t>)</a:t>
            </a:r>
          </a:p>
          <a:p>
            <a:pPr lvl="1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9940C98-9143-1121-3789-E6649A37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163" y="4038174"/>
            <a:ext cx="1857634" cy="12860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7716CB-F043-D980-D939-25E0EFE0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0" y="4190595"/>
            <a:ext cx="1857634" cy="981212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AB7981E-A3D4-489C-11F7-7DD5D40C36B2}"/>
              </a:ext>
            </a:extLst>
          </p:cNvPr>
          <p:cNvSpPr txBox="1">
            <a:spLocks/>
          </p:cNvSpPr>
          <p:nvPr/>
        </p:nvSpPr>
        <p:spPr>
          <a:xfrm>
            <a:off x="444500" y="1339877"/>
            <a:ext cx="5651500" cy="27835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Query, Key, Value (Q, K, V)</a:t>
            </a:r>
            <a:endParaRPr lang="ko-KR" altLang="en-US" sz="23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Q : </a:t>
            </a:r>
            <a:r>
              <a:rPr lang="ko-KR" altLang="en-US" sz="2000" dirty="0"/>
              <a:t>현재 단어가 다른 단어에서 어떤 정보를 얻고 </a:t>
            </a:r>
            <a:r>
              <a:rPr lang="ko-KR" altLang="en-US" sz="2000" dirty="0" err="1"/>
              <a:t>싶은지</a:t>
            </a:r>
            <a:r>
              <a:rPr lang="ko-KR" altLang="en-US" sz="2000" dirty="0"/>
              <a:t> 나타내는 벡터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K : </a:t>
            </a:r>
            <a:r>
              <a:rPr lang="ko-KR" altLang="en-US" sz="2000" dirty="0"/>
              <a:t>각 단어의 고유한 정보</a:t>
            </a:r>
            <a:r>
              <a:rPr lang="en-US" altLang="ko-KR" sz="2000" dirty="0"/>
              <a:t>, </a:t>
            </a:r>
            <a:r>
              <a:rPr lang="ko-KR" altLang="en-US" sz="2000" dirty="0"/>
              <a:t>특징을 표현하는 벡터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V : </a:t>
            </a:r>
            <a:r>
              <a:rPr lang="ko-KR" altLang="en-US" sz="2000" dirty="0"/>
              <a:t>실제 정보를 담고 있는 벡터</a:t>
            </a:r>
          </a:p>
        </p:txBody>
      </p:sp>
    </p:spTree>
    <p:extLst>
      <p:ext uri="{BB962C8B-B14F-4D97-AF65-F5344CB8AC3E}">
        <p14:creationId xmlns:p14="http://schemas.microsoft.com/office/powerpoint/2010/main" val="422809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195F-A2D3-73C2-CA3D-43EBAED4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43FE3-9032-F160-14ED-B40E957D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Self-Attention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C01D9DB-7A91-47F6-6346-915ED8FDBB24}"/>
              </a:ext>
            </a:extLst>
          </p:cNvPr>
          <p:cNvSpPr txBox="1">
            <a:spLocks/>
          </p:cNvSpPr>
          <p:nvPr/>
        </p:nvSpPr>
        <p:spPr>
          <a:xfrm>
            <a:off x="562707" y="1351073"/>
            <a:ext cx="8006861" cy="5076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Self-Attention </a:t>
            </a:r>
            <a:r>
              <a:rPr lang="ko-KR" altLang="en-US" sz="2300" b="1" dirty="0"/>
              <a:t>장점</a:t>
            </a:r>
            <a:endParaRPr lang="en-US" altLang="ko-KR" sz="23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</a:t>
            </a:r>
            <a:r>
              <a:rPr lang="en-US" altLang="ko-KR" sz="2000" dirty="0"/>
              <a:t>Layer</a:t>
            </a:r>
            <a:r>
              <a:rPr lang="ko-KR" altLang="en-US" sz="2000" dirty="0"/>
              <a:t>마다 계산 복잡도가 줄어듦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Recurrence</a:t>
            </a:r>
            <a:r>
              <a:rPr lang="ko-KR" altLang="en-US" sz="2000" dirty="0"/>
              <a:t>를 제거함으로써 병렬적 처리 가능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장기 의존성 문제 해결 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어느정도 설명 가능한 모델 </a:t>
            </a:r>
            <a:r>
              <a:rPr lang="en-US" altLang="ko-KR" sz="2000" dirty="0"/>
              <a:t>-&gt; </a:t>
            </a:r>
            <a:r>
              <a:rPr lang="en-US" altLang="ko-KR" sz="2000" dirty="0" err="1"/>
              <a:t>softmax</a:t>
            </a:r>
            <a:r>
              <a:rPr lang="en-US" altLang="ko-KR" sz="2000" dirty="0"/>
              <a:t> </a:t>
            </a:r>
            <a:r>
              <a:rPr lang="ko-KR" altLang="en-US" sz="2000" dirty="0"/>
              <a:t>함수 시각화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B2A95F-0522-0E1C-97D5-05DC05A55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12" y="4111971"/>
            <a:ext cx="9462976" cy="1913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FD3E7D-3BCC-28DB-FF14-05F3BDDB0934}"/>
              </a:ext>
            </a:extLst>
          </p:cNvPr>
          <p:cNvSpPr txBox="1"/>
          <p:nvPr/>
        </p:nvSpPr>
        <p:spPr>
          <a:xfrm>
            <a:off x="8892343" y="6025662"/>
            <a:ext cx="19351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n – </a:t>
            </a:r>
            <a:r>
              <a:rPr lang="ko-KR" altLang="en-US" sz="1300" dirty="0"/>
              <a:t>단어의 개수</a:t>
            </a:r>
            <a:r>
              <a:rPr lang="en-US" altLang="ko-KR" sz="1300" dirty="0"/>
              <a:t>, d - </a:t>
            </a:r>
            <a:r>
              <a:rPr lang="ko-KR" altLang="en-US" sz="1300" dirty="0"/>
              <a:t>차원</a:t>
            </a:r>
          </a:p>
        </p:txBody>
      </p:sp>
    </p:spTree>
    <p:extLst>
      <p:ext uri="{BB962C8B-B14F-4D97-AF65-F5344CB8AC3E}">
        <p14:creationId xmlns:p14="http://schemas.microsoft.com/office/powerpoint/2010/main" val="32792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0E02-3CFE-84EA-E5FD-AF60FF25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10DD4-C0FF-BAD1-B168-9E3DFCE2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2AD6D7-1153-E1A9-DCA7-7D3FEF0C7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B44593D-7A5F-AF6E-CF6F-824A7D755D8C}"/>
              </a:ext>
            </a:extLst>
          </p:cNvPr>
          <p:cNvSpPr/>
          <p:nvPr/>
        </p:nvSpPr>
        <p:spPr>
          <a:xfrm>
            <a:off x="8229600" y="3195688"/>
            <a:ext cx="1168924" cy="1734531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A37CC99-F695-91A2-8620-BF471C546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Encoder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Multi-Head self-Attention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Scaled Dot-Product 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Residual</a:t>
            </a:r>
            <a:r>
              <a:rPr lang="ko-KR" altLang="en-US" sz="2000" dirty="0"/>
              <a:t> </a:t>
            </a:r>
            <a:r>
              <a:rPr lang="en-US" altLang="ko-KR" sz="2000" dirty="0"/>
              <a:t>Connection</a:t>
            </a:r>
            <a:r>
              <a:rPr lang="ko-KR" altLang="en-US" sz="2000" dirty="0"/>
              <a:t> </a:t>
            </a:r>
            <a:r>
              <a:rPr lang="en-US" altLang="ko-KR" sz="2000" dirty="0"/>
              <a:t>+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r>
              <a:rPr lang="ko-KR" altLang="en-US" sz="2000" dirty="0"/>
              <a:t> </a:t>
            </a:r>
            <a:r>
              <a:rPr lang="en-US" altLang="ko-KR" sz="2000" dirty="0"/>
              <a:t>Normalization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Position-wise Feed-Forward Network (FFN)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7676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0FE9-BFC9-7687-D049-7AD6238C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EEC99-8EC8-1CAC-9EC4-2EDCC411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08497FD2-BE10-1C48-E89D-97867EB1156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499" y="1463040"/>
                <a:ext cx="7094635" cy="5179270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altLang="ko-KR" sz="2300" b="1" dirty="0"/>
                  <a:t>Multi-Head self-Attention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en-US" altLang="ko-KR" sz="2100" dirty="0"/>
                  <a:t>Self-Attention</a:t>
                </a:r>
                <a:r>
                  <a:rPr lang="ko-KR" altLang="en-US" sz="2100" dirty="0"/>
                  <a:t>을 병렬로 </a:t>
                </a:r>
                <a:r>
                  <a:rPr lang="en-US" altLang="ko-KR" sz="2100" dirty="0"/>
                  <a:t>h</a:t>
                </a:r>
                <a:r>
                  <a:rPr lang="ko-KR" altLang="en-US" sz="2100" dirty="0"/>
                  <a:t>번 학습시키는 구조</a:t>
                </a:r>
                <a:br>
                  <a:rPr lang="en-US" altLang="ko-KR" sz="2100" dirty="0"/>
                </a:br>
                <a:r>
                  <a:rPr lang="en-US" altLang="ko-KR" sz="2100" dirty="0"/>
                  <a:t>(</a:t>
                </a:r>
                <a:r>
                  <a:rPr lang="ko-KR" altLang="en-US" sz="2100" dirty="0"/>
                  <a:t>여러 측면에서 </a:t>
                </a:r>
                <a:r>
                  <a:rPr lang="en-US" altLang="ko-KR" sz="2100" dirty="0"/>
                  <a:t>attention </a:t>
                </a:r>
                <a:r>
                  <a:rPr lang="ko-KR" altLang="en-US" sz="2100" dirty="0"/>
                  <a:t>정보를 모두 고려</a:t>
                </a:r>
                <a:r>
                  <a:rPr lang="en-US" altLang="ko-KR" sz="2100" dirty="0"/>
                  <a:t>)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ko-KR" altLang="en-US" sz="2100" dirty="0"/>
                  <a:t>각 헤드마다 별도의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ko-KR" altLang="en-US" sz="21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2100" dirty="0"/>
                  <a:t> </a:t>
                </a:r>
                <a:r>
                  <a:rPr lang="ko-KR" altLang="en-US" sz="2100" dirty="0"/>
                  <a:t>가지고 독립적으로 학습 </a:t>
                </a:r>
                <a:r>
                  <a:rPr lang="en-US" altLang="ko-KR" sz="2100" dirty="0"/>
                  <a:t>( </a:t>
                </a:r>
                <a:r>
                  <a:rPr lang="en-US" altLang="ko-KR" sz="2100" dirty="0" err="1"/>
                  <a:t>i</a:t>
                </a:r>
                <a:r>
                  <a:rPr lang="en-US" altLang="ko-KR" sz="2100" dirty="0"/>
                  <a:t> : head index)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100" dirty="0"/>
              </a:p>
              <a:p>
                <a:pPr lvl="1" indent="0">
                  <a:buNone/>
                </a:pP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100" b="0" i="1" dirty="0">
                  <a:latin typeface="Cambria Math" panose="02040503050406030204" pitchFamily="18" charset="0"/>
                </a:endParaRP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altLang="ko-KR" sz="21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altLang="ko-KR" sz="21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1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2100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altLang="ko-KR" sz="21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1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1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100" b="0" i="1" dirty="0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altLang="ko-KR" sz="2100" dirty="0"/>
                  <a:t>) : </a:t>
                </a:r>
                <a:r>
                  <a:rPr lang="en-US" altLang="ko-KR" sz="2100" dirty="0" err="1"/>
                  <a:t>Concat</a:t>
                </a:r>
                <a:r>
                  <a:rPr lang="ko-KR" altLang="en-US" sz="2100" dirty="0"/>
                  <a:t>한 정보를 통합하기 위함</a:t>
                </a:r>
                <a:endParaRPr lang="en-US" altLang="ko-KR" sz="2100" dirty="0"/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08497FD2-BE10-1C48-E89D-97867EB11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499" y="1463040"/>
                <a:ext cx="7094635" cy="5179270"/>
              </a:xfrm>
              <a:blipFill>
                <a:blip r:embed="rId3"/>
                <a:stretch>
                  <a:fillRect l="-1031" r="-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BE422690-C832-5627-AB2D-6C65B52B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196" y="1298039"/>
            <a:ext cx="4286848" cy="53442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28E248-695E-D65A-0216-D29C68638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6" y="4043829"/>
            <a:ext cx="7087589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4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B70C-25DB-F065-AD0E-2A293014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3ECC9-631B-33D5-2D35-8B4D8352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1493637-B953-FC3A-A3FB-80192C27CA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40"/>
            <a:ext cx="7094635" cy="517927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Multi-Head 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100" dirty="0"/>
              <a:t>Linear projection</a:t>
            </a:r>
          </a:p>
          <a:p>
            <a:pPr lvl="1" indent="0">
              <a:buNone/>
            </a:pPr>
            <a:endParaRPr lang="en-US" altLang="ko-KR" sz="21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100" b="0" i="1" dirty="0">
              <a:latin typeface="Cambria Math" panose="020405030504060302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ADB6A5-4D3D-B037-ADE2-6770C53C7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912" y="1397634"/>
            <a:ext cx="7087589" cy="1019317"/>
          </a:xfrm>
          <a:prstGeom prst="rect">
            <a:avLst/>
          </a:prstGeom>
        </p:spPr>
      </p:pic>
      <p:pic>
        <p:nvPicPr>
          <p:cNvPr id="1026" name="Picture 2" descr="GPT Image 1">
            <a:extLst>
              <a:ext uri="{FF2B5EF4-FFF2-40B4-BE49-F238E27FC236}">
                <a16:creationId xmlns:a16="http://schemas.microsoft.com/office/drawing/2014/main" id="{F5B7EB18-4BB4-C6A9-8314-3256531D8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48"/>
          <a:stretch/>
        </p:blipFill>
        <p:spPr bwMode="auto">
          <a:xfrm>
            <a:off x="6096000" y="2557747"/>
            <a:ext cx="3546231" cy="414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D223D4-BA9E-5599-3B91-1FE4DD12B151}"/>
              </a:ext>
            </a:extLst>
          </p:cNvPr>
          <p:cNvSpPr txBox="1"/>
          <p:nvPr/>
        </p:nvSpPr>
        <p:spPr>
          <a:xfrm>
            <a:off x="9712980" y="329999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A862E-FF46-C5E0-A970-01581BF6B7C1}"/>
              </a:ext>
            </a:extLst>
          </p:cNvPr>
          <p:cNvSpPr txBox="1"/>
          <p:nvPr/>
        </p:nvSpPr>
        <p:spPr>
          <a:xfrm>
            <a:off x="9760075" y="442836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524FE-B3D4-C70E-9B93-C6A55897692B}"/>
              </a:ext>
            </a:extLst>
          </p:cNvPr>
          <p:cNvSpPr txBox="1"/>
          <p:nvPr/>
        </p:nvSpPr>
        <p:spPr>
          <a:xfrm>
            <a:off x="9712980" y="555673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E1DF52-A6E8-D905-39F5-A09501F58A06}"/>
                  </a:ext>
                </a:extLst>
              </p:cNvPr>
              <p:cNvSpPr txBox="1"/>
              <p:nvPr/>
            </p:nvSpPr>
            <p:spPr>
              <a:xfrm>
                <a:off x="3040081" y="3318970"/>
                <a:ext cx="1903470" cy="331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E1DF52-A6E8-D905-39F5-A09501F58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081" y="3318970"/>
                <a:ext cx="1903470" cy="331373"/>
              </a:xfrm>
              <a:prstGeom prst="rect">
                <a:avLst/>
              </a:prstGeom>
              <a:blipFill>
                <a:blip r:embed="rId5"/>
                <a:stretch>
                  <a:fillRect l="-2564" t="-1818" r="-321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5EF445-6276-02F3-3BDA-8C016A4FDBF0}"/>
                  </a:ext>
                </a:extLst>
              </p:cNvPr>
              <p:cNvSpPr txBox="1"/>
              <p:nvPr/>
            </p:nvSpPr>
            <p:spPr>
              <a:xfrm>
                <a:off x="3040081" y="4447343"/>
                <a:ext cx="1908856" cy="292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5EF445-6276-02F3-3BDA-8C016A4FD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081" y="4447343"/>
                <a:ext cx="1908856" cy="292131"/>
              </a:xfrm>
              <a:prstGeom prst="rect">
                <a:avLst/>
              </a:prstGeom>
              <a:blipFill>
                <a:blip r:embed="rId6"/>
                <a:stretch>
                  <a:fillRect l="-2556" t="-2128" r="-319" b="-234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07E78-EE5A-EDA2-B8B9-DC19634A55F1}"/>
                  </a:ext>
                </a:extLst>
              </p:cNvPr>
              <p:cNvSpPr txBox="1"/>
              <p:nvPr/>
            </p:nvSpPr>
            <p:spPr>
              <a:xfrm>
                <a:off x="3040081" y="5575716"/>
                <a:ext cx="1934504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07E78-EE5A-EDA2-B8B9-DC19634A5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081" y="5575716"/>
                <a:ext cx="1934504" cy="293735"/>
              </a:xfrm>
              <a:prstGeom prst="rect">
                <a:avLst/>
              </a:prstGeom>
              <a:blipFill>
                <a:blip r:embed="rId7"/>
                <a:stretch>
                  <a:fillRect l="-1893" t="-2083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099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B979-6327-125E-9B4A-8CCC3A23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4F2EF-5D8A-127C-0363-0DD69759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3629E7CC-1874-6F1C-FB60-819F17CDCBB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499" y="1463040"/>
                <a:ext cx="7094635" cy="4601748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altLang="ko-KR" sz="2300" b="1" dirty="0"/>
                  <a:t>Scaled Dot-Product Attention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en-US" altLang="ko-KR" sz="2100" dirty="0"/>
                  <a:t>Multi-Head self-Attention</a:t>
                </a:r>
                <a:r>
                  <a:rPr lang="ko-KR" altLang="en-US" sz="2100" dirty="0"/>
                  <a:t>에서의 핵심 역할</a:t>
                </a: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en-US" altLang="ko-KR" sz="2100" dirty="0"/>
                  <a:t>Q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2100" dirty="0"/>
                  <a:t>: </a:t>
                </a:r>
                <a:r>
                  <a:rPr lang="ko-KR" altLang="en-US" sz="2100" dirty="0"/>
                  <a:t>유사도 </a:t>
                </a:r>
                <a:r>
                  <a:rPr lang="en-US" altLang="ko-KR" sz="21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ko-KR" sz="2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1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ko-KR" sz="2100" dirty="0"/>
                  <a:t>)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en-US" altLang="ko-KR" sz="2100" dirty="0" err="1"/>
                  <a:t>Softmax</a:t>
                </a:r>
                <a:r>
                  <a:rPr lang="en-US" altLang="ko-KR" sz="2100" dirty="0"/>
                  <a:t> : </a:t>
                </a:r>
                <a:r>
                  <a:rPr lang="ko-KR" altLang="en-US" sz="2100" dirty="0"/>
                  <a:t>유사도를 </a:t>
                </a:r>
                <a:r>
                  <a:rPr lang="en-US" altLang="ko-KR" sz="2100" dirty="0"/>
                  <a:t>0~1 </a:t>
                </a:r>
                <a:r>
                  <a:rPr lang="ko-KR" altLang="en-US" sz="2100" dirty="0"/>
                  <a:t>사이</a:t>
                </a:r>
                <a:r>
                  <a:rPr lang="en-US" altLang="ko-KR" sz="2100" dirty="0"/>
                  <a:t> </a:t>
                </a:r>
                <a:r>
                  <a:rPr lang="ko-KR" altLang="en-US" sz="2100" dirty="0"/>
                  <a:t>값으로 정규화</a:t>
                </a:r>
                <a:endParaRPr lang="en-US" altLang="ko-KR" sz="21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  <a:p>
                <a:pPr lvl="1" indent="0">
                  <a:buNone/>
                </a:pPr>
                <a:endParaRPr lang="en-US" altLang="ko-KR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3629E7CC-1874-6F1C-FB60-819F17CDC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499" y="1463040"/>
                <a:ext cx="7094635" cy="4601748"/>
              </a:xfrm>
              <a:blipFill>
                <a:blip r:embed="rId2"/>
                <a:stretch>
                  <a:fillRect l="-10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텍스트, 스크린샷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F3F4DB-624D-5D26-80AB-65B58E0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421" y="1463040"/>
            <a:ext cx="3796442" cy="4601748"/>
          </a:xfrm>
          <a:prstGeom prst="rect">
            <a:avLst/>
          </a:prstGeom>
          <a:noFill/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A7C9D7-CBDD-FE0A-345C-AE771DA68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37" y="2552359"/>
            <a:ext cx="6175720" cy="121764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DCF237-0D29-4C67-C3EA-704905123FCF}"/>
              </a:ext>
            </a:extLst>
          </p:cNvPr>
          <p:cNvCxnSpPr>
            <a:cxnSpLocks/>
          </p:cNvCxnSpPr>
          <p:nvPr/>
        </p:nvCxnSpPr>
        <p:spPr>
          <a:xfrm>
            <a:off x="5442857" y="2723164"/>
            <a:ext cx="775063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4E65226-EE6A-1946-C97E-0E541685022A}"/>
              </a:ext>
            </a:extLst>
          </p:cNvPr>
          <p:cNvCxnSpPr>
            <a:cxnSpLocks/>
          </p:cNvCxnSpPr>
          <p:nvPr/>
        </p:nvCxnSpPr>
        <p:spPr>
          <a:xfrm>
            <a:off x="5464628" y="3641919"/>
            <a:ext cx="775063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89A3CE8-CF4E-C618-FACE-943C995417A6}"/>
              </a:ext>
            </a:extLst>
          </p:cNvPr>
          <p:cNvCxnSpPr>
            <a:cxnSpLocks/>
          </p:cNvCxnSpPr>
          <p:nvPr/>
        </p:nvCxnSpPr>
        <p:spPr>
          <a:xfrm>
            <a:off x="5863472" y="2460396"/>
            <a:ext cx="2639505" cy="2611225"/>
          </a:xfrm>
          <a:prstGeom prst="bentConnector3">
            <a:avLst>
              <a:gd name="adj1" fmla="val 50000"/>
            </a:avLst>
          </a:prstGeom>
          <a:ln w="15875">
            <a:solidFill>
              <a:srgbClr val="7030A0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A8F6BE9D-BC8A-9971-88F5-EF4F244218DA}"/>
              </a:ext>
            </a:extLst>
          </p:cNvPr>
          <p:cNvCxnSpPr/>
          <p:nvPr/>
        </p:nvCxnSpPr>
        <p:spPr>
          <a:xfrm>
            <a:off x="5863472" y="3635829"/>
            <a:ext cx="2922309" cy="804196"/>
          </a:xfrm>
          <a:prstGeom prst="bentConnector3">
            <a:avLst>
              <a:gd name="adj1" fmla="val 0"/>
            </a:avLst>
          </a:prstGeom>
          <a:ln w="15875">
            <a:solidFill>
              <a:srgbClr val="FFFF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C5FBDBE-454E-F429-2DE7-42FA9624E05B}"/>
              </a:ext>
            </a:extLst>
          </p:cNvPr>
          <p:cNvCxnSpPr/>
          <p:nvPr/>
        </p:nvCxnSpPr>
        <p:spPr>
          <a:xfrm>
            <a:off x="5854045" y="2460396"/>
            <a:ext cx="0" cy="25667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5CA570D-9076-65C4-5FC9-D7B54EA36484}"/>
              </a:ext>
            </a:extLst>
          </p:cNvPr>
          <p:cNvCxnSpPr/>
          <p:nvPr/>
        </p:nvCxnSpPr>
        <p:spPr>
          <a:xfrm>
            <a:off x="4185501" y="3770004"/>
            <a:ext cx="2177592" cy="0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2802AD24-050D-F7CD-A462-D3B15129B2E2}"/>
              </a:ext>
            </a:extLst>
          </p:cNvPr>
          <p:cNvCxnSpPr>
            <a:cxnSpLocks/>
          </p:cNvCxnSpPr>
          <p:nvPr/>
        </p:nvCxnSpPr>
        <p:spPr>
          <a:xfrm flipV="1">
            <a:off x="5297864" y="3327662"/>
            <a:ext cx="3327662" cy="813264"/>
          </a:xfrm>
          <a:prstGeom prst="bentConnector3">
            <a:avLst>
              <a:gd name="adj1" fmla="val 79178"/>
            </a:avLst>
          </a:prstGeom>
          <a:ln w="15875">
            <a:solidFill>
              <a:srgbClr val="92D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0946117-F333-A241-D908-0DC177A1C321}"/>
              </a:ext>
            </a:extLst>
          </p:cNvPr>
          <p:cNvCxnSpPr/>
          <p:nvPr/>
        </p:nvCxnSpPr>
        <p:spPr>
          <a:xfrm>
            <a:off x="5297864" y="3770004"/>
            <a:ext cx="0" cy="377012"/>
          </a:xfrm>
          <a:prstGeom prst="line">
            <a:avLst/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02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6A82-E94A-2CDC-EA9E-2C91370B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E4F7E-AFD1-5144-D2A7-CDC1769B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691F3-FBE4-4EE1-0339-20620B663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EF6C76C-C4B7-7A4C-2916-6B6E8581F049}"/>
              </a:ext>
            </a:extLst>
          </p:cNvPr>
          <p:cNvSpPr/>
          <p:nvPr/>
        </p:nvSpPr>
        <p:spPr>
          <a:xfrm>
            <a:off x="8229600" y="3195688"/>
            <a:ext cx="1168924" cy="1734531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74BAFA9-3A34-A56C-ABDC-FDC7E08B72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224681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Residual Connection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ResNet</a:t>
            </a:r>
            <a:r>
              <a:rPr lang="ko-KR" altLang="en-US" sz="2000" dirty="0"/>
              <a:t>에서 등장한 개념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입력을 출력에 직접 더하는 구조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정보 보존</a:t>
            </a:r>
            <a:r>
              <a:rPr lang="en-US" altLang="ko-KR" sz="2000" dirty="0"/>
              <a:t>, </a:t>
            </a:r>
            <a:r>
              <a:rPr lang="ko-KR" altLang="en-US" sz="2000" dirty="0"/>
              <a:t>학습 안정화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그레디언트</a:t>
            </a:r>
            <a:r>
              <a:rPr lang="ko-KR" altLang="en-US" sz="2000" dirty="0"/>
              <a:t> 소실 방지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ECFC283-ED10-DAE7-301F-C3F5BBD4A318}"/>
              </a:ext>
            </a:extLst>
          </p:cNvPr>
          <p:cNvCxnSpPr/>
          <p:nvPr/>
        </p:nvCxnSpPr>
        <p:spPr>
          <a:xfrm>
            <a:off x="3483429" y="1767840"/>
            <a:ext cx="4841965" cy="1942011"/>
          </a:xfrm>
          <a:prstGeom prst="bentConnector3">
            <a:avLst>
              <a:gd name="adj1" fmla="val 58761"/>
            </a:avLst>
          </a:prstGeom>
          <a:ln w="34925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3CE039E-F2BE-08A2-D347-42F7F2AFAAEC}"/>
              </a:ext>
            </a:extLst>
          </p:cNvPr>
          <p:cNvSpPr txBox="1">
            <a:spLocks/>
          </p:cNvSpPr>
          <p:nvPr/>
        </p:nvSpPr>
        <p:spPr>
          <a:xfrm>
            <a:off x="444500" y="3720427"/>
            <a:ext cx="7225263" cy="2246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Layer Normalization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한 샘플의 모든 특징 값에 대해 평균과 분산을 계산하여 정규화</a:t>
            </a:r>
            <a:endParaRPr lang="en-US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02FC39-0551-8182-3462-01DFA2D7A04D}"/>
                  </a:ext>
                </a:extLst>
              </p:cNvPr>
              <p:cNvSpPr txBox="1"/>
              <p:nvPr/>
            </p:nvSpPr>
            <p:spPr>
              <a:xfrm>
                <a:off x="1362269" y="5691673"/>
                <a:ext cx="606489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𝐿𝑎𝑦𝑒𝑟𝑁𝑜𝑟𝑚</m:t>
                      </m:r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𝑆𝑢𝑏𝑙𝑎𝑦𝑒𝑟</m:t>
                      </m:r>
                      <m:d>
                        <m:d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02FC39-0551-8182-3462-01DFA2D7A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69" y="5691673"/>
                <a:ext cx="606489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829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082D-1D4A-D5DB-4AEE-24F469A5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07B9E-B1B0-4965-21BA-92AF0208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A92F35-AD13-89CD-A26E-F0BC22FD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BE45D81-7205-961F-7BB9-4A611901ABA0}"/>
              </a:ext>
            </a:extLst>
          </p:cNvPr>
          <p:cNvSpPr/>
          <p:nvPr/>
        </p:nvSpPr>
        <p:spPr>
          <a:xfrm>
            <a:off x="8229600" y="3195688"/>
            <a:ext cx="1168924" cy="1734531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3E5C8CD-537A-460D-8CDF-6DC4D2D656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Position-wise Feed-Forward Network (FFN)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Fully connected FFN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두 개의 선형 변환과 </a:t>
            </a:r>
            <a:r>
              <a:rPr lang="en-US" altLang="ko-KR" sz="2000" dirty="0" err="1"/>
              <a:t>ReLU</a:t>
            </a:r>
            <a:r>
              <a:rPr lang="en-US" altLang="ko-KR" sz="2000" dirty="0"/>
              <a:t> </a:t>
            </a:r>
            <a:r>
              <a:rPr lang="ko-KR" altLang="en-US" sz="2000" dirty="0"/>
              <a:t>활성화 함수 사용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단어마다 같은 파라미터의 </a:t>
            </a:r>
            <a:r>
              <a:rPr lang="en-US" altLang="ko-KR" sz="2000" dirty="0"/>
              <a:t>FFN </a:t>
            </a:r>
            <a:r>
              <a:rPr lang="ko-KR" altLang="en-US" sz="2000" dirty="0"/>
              <a:t>작동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784196-B5DA-2DA1-0457-EBE0B81D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3" y="4062953"/>
            <a:ext cx="5915851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8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B03F-BCF3-08F1-C4A1-4B89E5EA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5A98A-A72F-AEA8-5367-9B0A881C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Encoder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602551-589F-C1FC-5715-71DCD49E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58" y="1518212"/>
            <a:ext cx="5242186" cy="449140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029DE51-302C-4EC1-D0C1-EABBFF39B6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Encoder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Attention</a:t>
            </a:r>
            <a:r>
              <a:rPr lang="ko-KR" altLang="en-US" sz="2000" dirty="0"/>
              <a:t>과 정규화 과정 반복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</a:t>
            </a:r>
            <a:r>
              <a:rPr lang="en-US" altLang="ko-KR" sz="2000" dirty="0"/>
              <a:t>Layer</a:t>
            </a:r>
            <a:r>
              <a:rPr lang="ko-KR" altLang="en-US" sz="2000" dirty="0"/>
              <a:t>는 서로 다른 파라미터를 가짐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입력되는 차원과 출력되는 차원의 크기가 같다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23389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D038-4D7E-D726-ECC1-BDBA6952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04298-A71E-1D4D-2329-9206574A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Decoder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63E80A-6B94-A0C1-28C2-C24B72E63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FC90FAE-950B-7A1F-84E9-6DDB22812402}"/>
              </a:ext>
            </a:extLst>
          </p:cNvPr>
          <p:cNvSpPr/>
          <p:nvPr/>
        </p:nvSpPr>
        <p:spPr>
          <a:xfrm>
            <a:off x="9601200" y="2403231"/>
            <a:ext cx="1168924" cy="2515266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7B9A501-B7E0-6242-7761-6DC3C2AA7C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Decoder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Masked Multi-Head 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Multi-Head 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Feed Forward Network</a:t>
            </a:r>
          </a:p>
          <a:p>
            <a:pPr lvl="1" indent="0">
              <a:buNone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26204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459E-392F-A8EA-7042-9BB2AC07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94C41-605F-E5D8-A7C8-19055435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Decoder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내용 개체 틀 2">
                <a:extLst>
                  <a:ext uri="{FF2B5EF4-FFF2-40B4-BE49-F238E27FC236}">
                    <a16:creationId xmlns:a16="http://schemas.microsoft.com/office/drawing/2014/main" id="{53643FE1-BDBC-554C-FFA6-1273B1E3F20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40"/>
                <a:ext cx="7225263" cy="4601748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altLang="ko-KR" sz="2300" b="1" dirty="0"/>
                  <a:t>Masked Multi-Head Self-Attention</a:t>
                </a:r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미래 정보를 참조하는 것을 막기 위해 </a:t>
                </a:r>
                <a:r>
                  <a:rPr lang="en-US" altLang="ko-KR" sz="2000" dirty="0"/>
                  <a:t>masking </a:t>
                </a:r>
                <a:r>
                  <a:rPr lang="ko-KR" altLang="en-US" sz="2000" dirty="0"/>
                  <a:t>기법 사용</a:t>
                </a:r>
                <a:br>
                  <a:rPr lang="en-US" altLang="ko-KR" sz="2000" dirty="0"/>
                </a:br>
                <a:r>
                  <a:rPr lang="en-US" altLang="ko-KR" sz="2000" dirty="0"/>
                  <a:t>-&gt;</a:t>
                </a:r>
                <a:r>
                  <a:rPr lang="ko-KR" altLang="en-US" sz="2000" dirty="0"/>
                  <a:t> 앞쪽 정보만 참조</a:t>
                </a: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마스크 값으로 </a:t>
                </a:r>
                <a:r>
                  <a:rPr lang="en-US" altLang="ko-KR" sz="2000" dirty="0"/>
                  <a:t>-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/>
                  <a:t>값을 넣어 </a:t>
                </a:r>
                <a:r>
                  <a:rPr lang="en-US" altLang="ko-KR" sz="2000" dirty="0" err="1"/>
                  <a:t>softmax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함수의 </a:t>
                </a:r>
                <a:r>
                  <a:rPr lang="ko-KR" altLang="en-US" sz="2000" dirty="0" err="1"/>
                  <a:t>출력값이</a:t>
                </a:r>
                <a:r>
                  <a:rPr lang="ko-KR" altLang="en-US" sz="2000" dirty="0"/>
                  <a:t> </a:t>
                </a:r>
                <a:br>
                  <a:rPr lang="en-US" altLang="ko-KR" sz="2000" dirty="0"/>
                </a:br>
                <a:r>
                  <a:rPr lang="en-US" altLang="ko-KR" sz="2000" dirty="0"/>
                  <a:t>0%</a:t>
                </a:r>
                <a:r>
                  <a:rPr lang="ko-KR" altLang="en-US" sz="2000" dirty="0"/>
                  <a:t>에 가까워 지도록 함</a:t>
                </a:r>
                <a:endParaRPr lang="en-US" altLang="ko-KR" sz="2000" dirty="0"/>
              </a:p>
              <a:p>
                <a:pPr marL="569214" lvl="1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15" name="내용 개체 틀 2">
                <a:extLst>
                  <a:ext uri="{FF2B5EF4-FFF2-40B4-BE49-F238E27FC236}">
                    <a16:creationId xmlns:a16="http://schemas.microsoft.com/office/drawing/2014/main" id="{53643FE1-BDBC-554C-FFA6-1273B1E3F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40"/>
                <a:ext cx="7225263" cy="4601748"/>
              </a:xfrm>
              <a:blipFill>
                <a:blip r:embed="rId3"/>
                <a:stretch>
                  <a:fillRect l="-10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 descr="텍스트, 스크린샷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C55C5E3-B01F-31CB-4172-86029AA5D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421" y="1463040"/>
            <a:ext cx="3796442" cy="460174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1A063A-BBDA-E759-33BD-838B28991133}"/>
                  </a:ext>
                </a:extLst>
              </p:cNvPr>
              <p:cNvSpPr txBox="1"/>
              <p:nvPr/>
            </p:nvSpPr>
            <p:spPr>
              <a:xfrm>
                <a:off x="1430216" y="2955679"/>
                <a:ext cx="4900572" cy="808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1A063A-BBDA-E759-33BD-838B28991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216" y="2955679"/>
                <a:ext cx="4900572" cy="80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2485377-931F-F43E-9E5D-A2AE3DD7495B}"/>
              </a:ext>
            </a:extLst>
          </p:cNvPr>
          <p:cNvCxnSpPr>
            <a:cxnSpLocks/>
          </p:cNvCxnSpPr>
          <p:nvPr/>
        </p:nvCxnSpPr>
        <p:spPr>
          <a:xfrm>
            <a:off x="4809811" y="3861108"/>
            <a:ext cx="1063451" cy="0"/>
          </a:xfrm>
          <a:prstGeom prst="line">
            <a:avLst/>
          </a:prstGeom>
          <a:ln w="25400">
            <a:solidFill>
              <a:srgbClr val="FEAC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74BEF627-C70F-BE54-ADD5-98E4E92916EE}"/>
              </a:ext>
            </a:extLst>
          </p:cNvPr>
          <p:cNvCxnSpPr>
            <a:cxnSpLocks/>
          </p:cNvCxnSpPr>
          <p:nvPr/>
        </p:nvCxnSpPr>
        <p:spPr>
          <a:xfrm flipV="1">
            <a:off x="5341536" y="3958303"/>
            <a:ext cx="3239756" cy="280258"/>
          </a:xfrm>
          <a:prstGeom prst="bentConnector3">
            <a:avLst/>
          </a:prstGeom>
          <a:ln w="31750">
            <a:solidFill>
              <a:srgbClr val="FEAC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2CF1AE9-FB90-8D66-511F-4D484A639467}"/>
              </a:ext>
            </a:extLst>
          </p:cNvPr>
          <p:cNvCxnSpPr>
            <a:cxnSpLocks/>
          </p:cNvCxnSpPr>
          <p:nvPr/>
        </p:nvCxnSpPr>
        <p:spPr>
          <a:xfrm flipV="1">
            <a:off x="5341536" y="3861108"/>
            <a:ext cx="0" cy="377453"/>
          </a:xfrm>
          <a:prstGeom prst="line">
            <a:avLst/>
          </a:prstGeom>
          <a:ln w="31750">
            <a:solidFill>
              <a:srgbClr val="FEAC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87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2825-6E78-D850-FE0A-79181F6A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A6250-17BF-BF6E-9A8E-07D80423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Decoder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9CEB61-1201-1C6D-5635-4502A8A3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25DD3B1-6F6E-45E6-5F58-344D2633674A}"/>
              </a:ext>
            </a:extLst>
          </p:cNvPr>
          <p:cNvSpPr/>
          <p:nvPr/>
        </p:nvSpPr>
        <p:spPr>
          <a:xfrm>
            <a:off x="9601200" y="2403231"/>
            <a:ext cx="1168924" cy="2515266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36CDDD3-2BC2-FBEB-12CF-F4FFEEA7C1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Multi-Head Self-Attention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Encoder-decoder Attention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Encoder</a:t>
            </a:r>
            <a:r>
              <a:rPr lang="ko-KR" altLang="en-US" sz="2000" dirty="0"/>
              <a:t>의 마지막 레이어에서 나온 </a:t>
            </a:r>
            <a:r>
              <a:rPr lang="ko-KR" altLang="en-US" sz="2000" dirty="0" err="1"/>
              <a:t>출력값을</a:t>
            </a:r>
            <a:r>
              <a:rPr lang="ko-KR" altLang="en-US" sz="2000" dirty="0"/>
              <a:t> </a:t>
            </a:r>
            <a:r>
              <a:rPr lang="en-US" altLang="ko-KR" sz="2000" dirty="0"/>
              <a:t>Decoder</a:t>
            </a:r>
            <a:r>
              <a:rPr lang="ko-KR" altLang="en-US" sz="2000" dirty="0"/>
              <a:t>의 </a:t>
            </a:r>
            <a:r>
              <a:rPr lang="en-US" altLang="ko-KR" sz="2000" dirty="0"/>
              <a:t>Multi-Head Self-Attention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입력값으로</a:t>
            </a:r>
            <a:r>
              <a:rPr lang="ko-KR" altLang="en-US" sz="2000" dirty="0"/>
              <a:t> 사용</a:t>
            </a:r>
            <a:br>
              <a:rPr lang="en-US" altLang="ko-KR" sz="2000" dirty="0"/>
            </a:br>
            <a:r>
              <a:rPr lang="en-US" altLang="ko-KR" sz="2000" dirty="0"/>
              <a:t>=&gt; Encoder</a:t>
            </a:r>
            <a:r>
              <a:rPr lang="ko-KR" altLang="en-US" sz="2000" dirty="0"/>
              <a:t>에 대한 정보를 </a:t>
            </a:r>
            <a:r>
              <a:rPr lang="en-US" altLang="ko-KR" sz="2000" dirty="0"/>
              <a:t>Attention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Q : Decoder </a:t>
            </a:r>
            <a:r>
              <a:rPr lang="ko-KR" altLang="en-US" sz="2000" dirty="0"/>
              <a:t>출력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K, V : Encoder </a:t>
            </a:r>
            <a:r>
              <a:rPr lang="ko-KR" altLang="en-US" sz="2000" dirty="0"/>
              <a:t>출력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439135-E62A-AD1F-C0BF-FD5B8BE326C5}"/>
              </a:ext>
            </a:extLst>
          </p:cNvPr>
          <p:cNvCxnSpPr/>
          <p:nvPr/>
        </p:nvCxnSpPr>
        <p:spPr>
          <a:xfrm>
            <a:off x="4092315" y="2293495"/>
            <a:ext cx="500671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733E53-AA52-11C0-08D3-B0745370EE94}"/>
              </a:ext>
            </a:extLst>
          </p:cNvPr>
          <p:cNvCxnSpPr/>
          <p:nvPr/>
        </p:nvCxnSpPr>
        <p:spPr>
          <a:xfrm>
            <a:off x="9099030" y="2293495"/>
            <a:ext cx="0" cy="7644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9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0314-9ECB-C0FD-71DE-E54842B2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A1E08-2AB0-CD82-8F0B-7938AFC5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Transformer - Decoder</a:t>
            </a:r>
            <a:endParaRPr lang="ko-KR" altLang="en-US" dirty="0"/>
          </a:p>
        </p:txBody>
      </p:sp>
      <p:pic>
        <p:nvPicPr>
          <p:cNvPr id="5" name="그림 4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00DBCB-B3C6-6930-AFEF-C2FA05644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36" y="1332411"/>
            <a:ext cx="3306486" cy="4972160"/>
          </a:xfrm>
          <a:prstGeom prst="rect">
            <a:avLst/>
          </a:prstGeom>
          <a:noFill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03750A7-FBA8-0919-5524-DC80F8A0D629}"/>
              </a:ext>
            </a:extLst>
          </p:cNvPr>
          <p:cNvSpPr/>
          <p:nvPr/>
        </p:nvSpPr>
        <p:spPr>
          <a:xfrm>
            <a:off x="9601200" y="2403231"/>
            <a:ext cx="1168924" cy="2515266"/>
          </a:xfrm>
          <a:prstGeom prst="roundRect">
            <a:avLst>
              <a:gd name="adj" fmla="val 899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70F9946-E866-E32A-506A-35D5834D5A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722526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Decoder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Auto-regressive </a:t>
            </a:r>
            <a:r>
              <a:rPr lang="ko-KR" altLang="en-US" sz="2000" dirty="0"/>
              <a:t>방식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하나씩 단어를 예측</a:t>
            </a:r>
            <a:r>
              <a:rPr lang="en-US" altLang="ko-KR" sz="2000" dirty="0"/>
              <a:t>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Softmax</a:t>
            </a:r>
            <a:r>
              <a:rPr lang="en-US" altLang="ko-KR" sz="2000" dirty="0"/>
              <a:t> </a:t>
            </a:r>
            <a:r>
              <a:rPr lang="ko-KR" altLang="en-US" sz="2000" dirty="0"/>
              <a:t>함수를 통해 각 단어에 대해 확률 예측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과정을 반복하여 최종 문장 완성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83967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E68E-AFF2-174D-1C46-6F5E429F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7B0E5-9CB6-84C6-77F2-F09BC20D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86B005-7D59-D2A9-728A-159AC0EB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50" y="1463040"/>
            <a:ext cx="10827643" cy="4601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5169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7BD9-A6A3-D828-5010-492FDA5F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45A45-CF46-FE7F-4961-0FF11E1C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F1028B-8430-10F5-40DB-3147418F7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092" y="2207639"/>
            <a:ext cx="5330952" cy="3411808"/>
          </a:xfrm>
          <a:prstGeom prst="rect">
            <a:avLst/>
          </a:prstGeom>
          <a:noFill/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2AE45-CD8E-CAE0-B2BD-BAC1F449DE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1" y="1463040"/>
            <a:ext cx="5879592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300" b="1" dirty="0"/>
              <a:t>Model Variations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PPL (Perplexity)</a:t>
            </a:r>
            <a:r>
              <a:rPr lang="en-US" altLang="ko-KR" sz="2000" dirty="0"/>
              <a:t> : </a:t>
            </a:r>
            <a:r>
              <a:rPr lang="ko-KR" altLang="en-US" sz="2000" dirty="0"/>
              <a:t>언어 모델의 예측 성능 평가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낮을 수록 더 좋은 모델</a:t>
            </a:r>
            <a:r>
              <a:rPr lang="en-US" altLang="ko-KR" sz="2000" dirty="0"/>
              <a:t> 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BLEU</a:t>
            </a:r>
            <a:r>
              <a:rPr lang="en-US" altLang="ko-KR" sz="2000" dirty="0"/>
              <a:t> : </a:t>
            </a:r>
            <a:r>
              <a:rPr lang="ko-KR" altLang="en-US" sz="2000" dirty="0"/>
              <a:t>기계 번역 시스템의 출력을 평가하기 위한 자동 평가 지표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기계 번역문과 참조 번역문 비교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높을 수록 참조 번역과 유사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9869722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기본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889724_Win32" id="{A47D2243-58B7-4EA1-AC61-F4DDB07AC155}" vid="{5B84BEAD-BCA6-42F5-9270-6ECA397995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C6F549-03FF-4828-9BD8-8F40C0A2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EFEE82-03DD-4F90-81E2-2AF29E1D81F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</TotalTime>
  <Words>742</Words>
  <Application>Microsoft Office PowerPoint</Application>
  <PresentationFormat>와이드스크린</PresentationFormat>
  <Paragraphs>180</Paragraphs>
  <Slides>24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Pretendard</vt:lpstr>
      <vt:lpstr>Arial</vt:lpstr>
      <vt:lpstr>Calibri</vt:lpstr>
      <vt:lpstr>Cambria Math</vt:lpstr>
      <vt:lpstr>Wingdings</vt:lpstr>
      <vt:lpstr>WelcomeDoc</vt:lpstr>
      <vt:lpstr>Attention Is All You Need 논문 리뷰</vt:lpstr>
      <vt:lpstr>목차</vt:lpstr>
      <vt:lpstr>저자 소개</vt:lpstr>
      <vt:lpstr>연구 배경</vt:lpstr>
      <vt:lpstr>Transformer</vt:lpstr>
      <vt:lpstr>Transformer</vt:lpstr>
      <vt:lpstr>Transformer</vt:lpstr>
      <vt:lpstr>Transformer</vt:lpstr>
      <vt:lpstr>Transformer</vt:lpstr>
      <vt:lpstr>Self-Attention</vt:lpstr>
      <vt:lpstr>Self-Attention</vt:lpstr>
      <vt:lpstr>Transformer - Encoder</vt:lpstr>
      <vt:lpstr>Transformer - Encoder</vt:lpstr>
      <vt:lpstr>Transformer - Encoder</vt:lpstr>
      <vt:lpstr>Transformer - Encoder</vt:lpstr>
      <vt:lpstr>Transformer - Encoder</vt:lpstr>
      <vt:lpstr>Transformer - Encoder</vt:lpstr>
      <vt:lpstr>Transformer - Encoder</vt:lpstr>
      <vt:lpstr>Transformer - Decoder</vt:lpstr>
      <vt:lpstr>Transformer - Decoder</vt:lpstr>
      <vt:lpstr>Transformer - Decoder</vt:lpstr>
      <vt:lpstr>Transformer - Decoder</vt:lpstr>
      <vt:lpstr>Training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지호 박</cp:lastModifiedBy>
  <cp:revision>49</cp:revision>
  <dcterms:created xsi:type="dcterms:W3CDTF">2022-05-26T06:44:04Z</dcterms:created>
  <dcterms:modified xsi:type="dcterms:W3CDTF">2025-04-28T04:11:57Z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